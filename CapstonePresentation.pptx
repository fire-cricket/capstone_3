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305" r:id="rId5"/>
    <p:sldId id="306" r:id="rId6"/>
    <p:sldId id="307" r:id="rId7"/>
    <p:sldId id="308" r:id="rId8"/>
    <p:sldId id="309" r:id="rId9"/>
    <p:sldId id="310" r:id="rId10"/>
    <p:sldId id="325" r:id="rId11"/>
    <p:sldId id="326" r:id="rId12"/>
    <p:sldId id="327" r:id="rId13"/>
    <p:sldId id="328" r:id="rId14"/>
    <p:sldId id="319" r:id="rId15"/>
    <p:sldId id="314" r:id="rId16"/>
    <p:sldId id="315" r:id="rId17"/>
    <p:sldId id="312" r:id="rId18"/>
    <p:sldId id="323" r:id="rId19"/>
    <p:sldId id="313" r:id="rId20"/>
    <p:sldId id="322" r:id="rId21"/>
    <p:sldId id="316" r:id="rId22"/>
    <p:sldId id="324" r:id="rId23"/>
    <p:sldId id="321" r:id="rId24"/>
    <p:sldId id="31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5B6B2"/>
    <a:srgbClr val="C5DCF3"/>
    <a:srgbClr val="0B2D42"/>
    <a:srgbClr val="D8F1EF"/>
    <a:srgbClr val="E6E7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4" autoAdjust="0"/>
    <p:restoredTop sz="94682"/>
  </p:normalViewPr>
  <p:slideViewPr>
    <p:cSldViewPr snapToGrid="0">
      <p:cViewPr varScale="1">
        <p:scale>
          <a:sx n="105" d="100"/>
          <a:sy n="105" d="100"/>
        </p:scale>
        <p:origin x="906" y="96"/>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Q1</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pPr algn="ctr"/>
          <a:r>
            <a:rPr lang="en-US" sz="1800" dirty="0"/>
            <a:t>Winter Slowdown</a:t>
          </a:r>
          <a:endParaRPr lang="en-US" sz="1800" b="0" i="0" dirty="0">
            <a:latin typeface="+mn-lt"/>
          </a:endParaRP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Q2</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pPr algn="ctr"/>
          <a:r>
            <a:rPr lang="en-US" sz="1800" dirty="0"/>
            <a:t>Spring Purchasing </a:t>
          </a:r>
          <a:endParaRPr lang="en-US" sz="1800" b="0" i="0" dirty="0">
            <a:latin typeface="+mn-lt"/>
          </a:endParaRP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Q3</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algn="ctr"/>
          <a:r>
            <a:rPr lang="en-US" sz="1800" b="0" i="0" dirty="0">
              <a:latin typeface="+mn-lt"/>
            </a:rPr>
            <a:t> </a:t>
          </a:r>
          <a:r>
            <a:rPr lang="en-US" sz="1800" dirty="0"/>
            <a:t>Back-to-School</a:t>
          </a:r>
          <a:endParaRPr lang="en-US" sz="1800" b="0" i="0" dirty="0">
            <a:latin typeface="+mn-lt"/>
          </a:endParaRP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Q4</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lgn="ctr"/>
          <a:r>
            <a:rPr lang="en-US" sz="1800" dirty="0"/>
            <a:t>Holiday Season</a:t>
          </a:r>
          <a:endParaRPr lang="en-US" sz="1800" b="0" i="0" dirty="0">
            <a:latin typeface="+mn-lt"/>
          </a:endParaRP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Q1</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pPr algn="ctr"/>
          <a:r>
            <a:rPr lang="en-US" sz="1800" dirty="0"/>
            <a:t>Winter Slowdown</a:t>
          </a:r>
          <a:endParaRPr lang="en-US" sz="1800" b="0" i="0" dirty="0">
            <a:latin typeface="+mn-lt"/>
          </a:endParaRP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Q2</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pPr algn="ctr"/>
          <a:r>
            <a:rPr lang="en-US" sz="1800" dirty="0"/>
            <a:t>Spring Purchasing </a:t>
          </a:r>
          <a:endParaRPr lang="en-US" sz="1800" b="0" i="0" dirty="0">
            <a:latin typeface="+mn-lt"/>
          </a:endParaRP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Q3</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algn="ctr"/>
          <a:r>
            <a:rPr lang="en-US" sz="1800" b="0" i="0" dirty="0">
              <a:latin typeface="+mn-lt"/>
            </a:rPr>
            <a:t> </a:t>
          </a:r>
          <a:r>
            <a:rPr lang="en-US" sz="1800" dirty="0"/>
            <a:t>Back-to-School</a:t>
          </a:r>
          <a:endParaRPr lang="en-US" sz="1800" b="0" i="0" dirty="0">
            <a:latin typeface="+mn-lt"/>
          </a:endParaRP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Q4</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lgn="ctr"/>
          <a:r>
            <a:rPr lang="en-US" sz="1800" dirty="0"/>
            <a:t>Holiday Season</a:t>
          </a:r>
          <a:endParaRPr lang="en-US" sz="1800" b="0" i="0" dirty="0">
            <a:latin typeface="+mn-lt"/>
          </a:endParaRP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Q1</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pPr algn="ctr"/>
          <a:r>
            <a:rPr lang="en-US" sz="1800" dirty="0"/>
            <a:t>Winter Slowdown</a:t>
          </a:r>
          <a:endParaRPr lang="en-US" sz="1800" b="0" i="0" dirty="0">
            <a:latin typeface="+mn-lt"/>
          </a:endParaRP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Q2</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pPr algn="ctr"/>
          <a:r>
            <a:rPr lang="en-US" sz="1800" dirty="0"/>
            <a:t>Spring Purchasing </a:t>
          </a:r>
          <a:endParaRPr lang="en-US" sz="1800" b="0" i="0" dirty="0">
            <a:latin typeface="+mn-lt"/>
          </a:endParaRP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Q3</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algn="ctr"/>
          <a:r>
            <a:rPr lang="en-US" sz="1800" b="0" i="0" dirty="0">
              <a:latin typeface="+mn-lt"/>
            </a:rPr>
            <a:t> </a:t>
          </a:r>
          <a:r>
            <a:rPr lang="en-US" sz="1800" dirty="0"/>
            <a:t>Back-to-School</a:t>
          </a:r>
          <a:endParaRPr lang="en-US" sz="1800" b="0" i="0" dirty="0">
            <a:latin typeface="+mn-lt"/>
          </a:endParaRP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Q4</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lgn="ctr"/>
          <a:r>
            <a:rPr lang="en-US" sz="1800" dirty="0"/>
            <a:t>Holiday Season</a:t>
          </a:r>
          <a:endParaRPr lang="en-US" sz="1800" b="0" i="0" dirty="0">
            <a:latin typeface="+mn-lt"/>
          </a:endParaRP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Q1</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pPr algn="ctr"/>
          <a:r>
            <a:rPr lang="en-US" sz="1800" dirty="0"/>
            <a:t>Winter Slowdown</a:t>
          </a:r>
          <a:endParaRPr lang="en-US" sz="1800" b="0" i="0" dirty="0">
            <a:latin typeface="+mn-lt"/>
          </a:endParaRP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Q2</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pPr algn="ctr"/>
          <a:r>
            <a:rPr lang="en-US" sz="1800" dirty="0"/>
            <a:t>Spring Purchasing </a:t>
          </a:r>
          <a:endParaRPr lang="en-US" sz="1800" b="0" i="0" dirty="0">
            <a:latin typeface="+mn-lt"/>
          </a:endParaRP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Q3</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algn="ctr"/>
          <a:r>
            <a:rPr lang="en-US" sz="1800" b="0" i="0" dirty="0">
              <a:latin typeface="+mn-lt"/>
            </a:rPr>
            <a:t> </a:t>
          </a:r>
          <a:r>
            <a:rPr lang="en-US" sz="1800" dirty="0"/>
            <a:t>Back-to-School</a:t>
          </a:r>
          <a:endParaRPr lang="en-US" sz="1800" b="0" i="0" dirty="0">
            <a:latin typeface="+mn-lt"/>
          </a:endParaRP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Q4</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lgn="ctr"/>
          <a:r>
            <a:rPr lang="en-US" sz="1800" dirty="0"/>
            <a:t>Holiday Season</a:t>
          </a:r>
          <a:endParaRPr lang="en-US" sz="1800" b="0" i="0" dirty="0">
            <a:latin typeface="+mn-lt"/>
          </a:endParaRP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6_1" csCatId="accent6" phldr="1"/>
      <dgm:spPr/>
      <dgm:t>
        <a:bodyPr/>
        <a:lstStyle/>
        <a:p>
          <a:endParaRPr lang="en-US"/>
        </a:p>
      </dgm:t>
    </dgm:pt>
    <dgm:pt modelId="{A8C03FBB-4A75-4460-AEA6-DEAEB9C61496}">
      <dgm:prSet phldrT="[Text]" phldr="0" custT="1"/>
      <dgm:spPr/>
      <dgm:t>
        <a:bodyPr/>
        <a:lstStyle/>
        <a:p>
          <a:pPr>
            <a:defRPr b="1"/>
          </a:pPr>
          <a:r>
            <a:rPr lang="en-US" sz="2000" b="1" i="0" dirty="0">
              <a:latin typeface="+mn-lt"/>
            </a:rPr>
            <a:t>Q1</a:t>
          </a:r>
        </a:p>
      </dgm:t>
    </dgm:pt>
    <dgm:pt modelId="{4E972F7F-4B1B-47AA-A25B-1FFC561F1C76}" type="parTrans" cxnId="{D3D81948-D963-4D1E-AE16-9705EAF510FC}">
      <dgm:prSet/>
      <dgm:spPr/>
      <dgm:t>
        <a:bodyPr/>
        <a:lstStyle/>
        <a:p>
          <a:endParaRPr lang="en-US" sz="2000" b="0" i="0">
            <a:latin typeface="+mn-lt"/>
          </a:endParaRPr>
        </a:p>
      </dgm:t>
    </dgm:pt>
    <dgm:pt modelId="{67361508-930A-4A23-8CFC-BB56DA645C3C}" type="sibTrans" cxnId="{D3D81948-D963-4D1E-AE16-9705EAF510FC}">
      <dgm:prSet/>
      <dgm:spPr/>
      <dgm:t>
        <a:bodyPr/>
        <a:lstStyle/>
        <a:p>
          <a:endParaRPr lang="en-US" sz="2000" b="0" i="0">
            <a:latin typeface="+mn-lt"/>
          </a:endParaRPr>
        </a:p>
      </dgm:t>
    </dgm:pt>
    <dgm:pt modelId="{5E71F362-34DF-4EEC-92A3-0EFE450E05E4}">
      <dgm:prSet phldrT="[Text]" phldr="0" custT="1"/>
      <dgm:spPr/>
      <dgm:t>
        <a:bodyPr/>
        <a:lstStyle/>
        <a:p>
          <a:pPr algn="ctr"/>
          <a:r>
            <a:rPr lang="en-US" sz="1800" dirty="0"/>
            <a:t>Winter Slowdown</a:t>
          </a:r>
          <a:endParaRPr lang="en-US" sz="1800" b="0" i="0" dirty="0">
            <a:latin typeface="+mn-lt"/>
          </a:endParaRPr>
        </a:p>
      </dgm:t>
    </dgm:pt>
    <dgm:pt modelId="{8E5EE4D1-908E-455C-B8B3-281AD42DEC9A}" type="parTrans" cxnId="{B99CA6C9-28D1-4DDB-B8EC-AED73AD115CA}">
      <dgm:prSet/>
      <dgm:spPr/>
      <dgm:t>
        <a:bodyPr/>
        <a:lstStyle/>
        <a:p>
          <a:endParaRPr lang="en-US" sz="2000" b="0" i="0">
            <a:latin typeface="+mn-lt"/>
          </a:endParaRPr>
        </a:p>
      </dgm:t>
    </dgm:pt>
    <dgm:pt modelId="{B208B24A-E9FD-40A9-B764-FB7C2B7ED8B9}" type="sibTrans" cxnId="{B99CA6C9-28D1-4DDB-B8EC-AED73AD115CA}">
      <dgm:prSet/>
      <dgm:spPr/>
      <dgm:t>
        <a:bodyPr/>
        <a:lstStyle/>
        <a:p>
          <a:endParaRPr lang="en-US" sz="2000" b="0" i="0">
            <a:latin typeface="+mn-lt"/>
          </a:endParaRPr>
        </a:p>
      </dgm:t>
    </dgm:pt>
    <dgm:pt modelId="{91969DED-4CB8-4A14-A50B-3F7B848E46B5}">
      <dgm:prSet phldrT="[Text]" phldr="0" custT="1"/>
      <dgm:spPr/>
      <dgm:t>
        <a:bodyPr/>
        <a:lstStyle/>
        <a:p>
          <a:pPr>
            <a:defRPr b="1"/>
          </a:pPr>
          <a:r>
            <a:rPr lang="en-US" sz="2000" b="1" i="0" dirty="0">
              <a:latin typeface="+mn-lt"/>
            </a:rPr>
            <a:t>Q2</a:t>
          </a:r>
        </a:p>
      </dgm:t>
    </dgm:pt>
    <dgm:pt modelId="{441CD73D-85E1-42A6-BCF8-362A3247E2F3}" type="parTrans" cxnId="{537F2ED0-8BD0-4AD5-B60D-89B660EDA1AC}">
      <dgm:prSet/>
      <dgm:spPr/>
      <dgm:t>
        <a:bodyPr/>
        <a:lstStyle/>
        <a:p>
          <a:endParaRPr lang="en-US" sz="2000" b="0" i="0">
            <a:latin typeface="+mn-lt"/>
          </a:endParaRPr>
        </a:p>
      </dgm:t>
    </dgm:pt>
    <dgm:pt modelId="{81CA8AA2-C0C3-4381-BA8B-413EDD578B83}" type="sibTrans" cxnId="{537F2ED0-8BD0-4AD5-B60D-89B660EDA1AC}">
      <dgm:prSet/>
      <dgm:spPr/>
      <dgm:t>
        <a:bodyPr/>
        <a:lstStyle/>
        <a:p>
          <a:endParaRPr lang="en-US" sz="2000" b="0" i="0">
            <a:latin typeface="+mn-lt"/>
          </a:endParaRPr>
        </a:p>
      </dgm:t>
    </dgm:pt>
    <dgm:pt modelId="{8A04F340-E8E1-4146-9905-E7ADCAEAABD7}">
      <dgm:prSet phldrT="[Text]" phldr="0" custT="1"/>
      <dgm:spPr/>
      <dgm:t>
        <a:bodyPr/>
        <a:lstStyle/>
        <a:p>
          <a:pPr algn="ctr"/>
          <a:r>
            <a:rPr lang="en-US" sz="1800" dirty="0"/>
            <a:t>Spring Purchasing </a:t>
          </a:r>
          <a:endParaRPr lang="en-US" sz="1800" b="0" i="0" dirty="0">
            <a:latin typeface="+mn-lt"/>
          </a:endParaRPr>
        </a:p>
      </dgm:t>
    </dgm:pt>
    <dgm:pt modelId="{4EBD5EC2-45ED-4ED6-8376-97D155A911AE}" type="parTrans" cxnId="{E636BFFB-0404-4D4B-B3F0-C64FDFD9DDEF}">
      <dgm:prSet/>
      <dgm:spPr/>
      <dgm:t>
        <a:bodyPr/>
        <a:lstStyle/>
        <a:p>
          <a:endParaRPr lang="en-US" sz="2000" b="0" i="0">
            <a:latin typeface="+mn-lt"/>
          </a:endParaRPr>
        </a:p>
      </dgm:t>
    </dgm:pt>
    <dgm:pt modelId="{F9CD2A04-6A34-4104-A971-391788B88F55}" type="sibTrans" cxnId="{E636BFFB-0404-4D4B-B3F0-C64FDFD9DDEF}">
      <dgm:prSet/>
      <dgm:spPr/>
      <dgm:t>
        <a:bodyPr/>
        <a:lstStyle/>
        <a:p>
          <a:endParaRPr lang="en-US" sz="2000" b="0" i="0">
            <a:latin typeface="+mn-lt"/>
          </a:endParaRPr>
        </a:p>
      </dgm:t>
    </dgm:pt>
    <dgm:pt modelId="{3CC73758-10C1-47F8-AFA7-1A986D4DDD60}">
      <dgm:prSet phldrT="[Text]" phldr="0" custT="1"/>
      <dgm:spPr/>
      <dgm:t>
        <a:bodyPr/>
        <a:lstStyle/>
        <a:p>
          <a:pPr>
            <a:defRPr b="1"/>
          </a:pPr>
          <a:r>
            <a:rPr lang="en-US" sz="2000" b="1" i="0" dirty="0">
              <a:latin typeface="+mn-lt"/>
            </a:rPr>
            <a:t>Q3</a:t>
          </a:r>
        </a:p>
      </dgm:t>
    </dgm:pt>
    <dgm:pt modelId="{FF6AE4B6-4A2F-49EE-9316-9AF55E77838B}" type="parTrans" cxnId="{4A69F85D-5C15-48FD-893A-B3050E1BADEB}">
      <dgm:prSet/>
      <dgm:spPr/>
      <dgm:t>
        <a:bodyPr/>
        <a:lstStyle/>
        <a:p>
          <a:endParaRPr lang="en-US" sz="2000" b="0" i="0">
            <a:latin typeface="+mn-lt"/>
          </a:endParaRPr>
        </a:p>
      </dgm:t>
    </dgm:pt>
    <dgm:pt modelId="{D8170BBA-6035-4773-8431-FEDD687647FF}" type="sibTrans" cxnId="{4A69F85D-5C15-48FD-893A-B3050E1BADEB}">
      <dgm:prSet/>
      <dgm:spPr/>
      <dgm:t>
        <a:bodyPr/>
        <a:lstStyle/>
        <a:p>
          <a:endParaRPr lang="en-US" sz="2000" b="0" i="0">
            <a:latin typeface="+mn-lt"/>
          </a:endParaRPr>
        </a:p>
      </dgm:t>
    </dgm:pt>
    <dgm:pt modelId="{FD9CA14A-483C-4869-B0C1-7C5FB7EEDBCC}">
      <dgm:prSet phldrT="[Text]" phldr="0" custT="1"/>
      <dgm:spPr/>
      <dgm:t>
        <a:bodyPr/>
        <a:lstStyle/>
        <a:p>
          <a:pPr algn="ctr"/>
          <a:r>
            <a:rPr lang="en-US" sz="1800" b="0" i="0" dirty="0">
              <a:latin typeface="+mn-lt"/>
            </a:rPr>
            <a:t> </a:t>
          </a:r>
          <a:r>
            <a:rPr lang="en-US" sz="1800" dirty="0"/>
            <a:t>Back-to-School</a:t>
          </a:r>
          <a:endParaRPr lang="en-US" sz="1800" b="0" i="0" dirty="0">
            <a:latin typeface="+mn-lt"/>
          </a:endParaRPr>
        </a:p>
      </dgm:t>
    </dgm:pt>
    <dgm:pt modelId="{8182A92F-45BA-4CD1-8E43-0B0810A50FEB}" type="parTrans" cxnId="{5EDA943F-300F-408A-A52E-3D5140FD5C22}">
      <dgm:prSet/>
      <dgm:spPr/>
      <dgm:t>
        <a:bodyPr/>
        <a:lstStyle/>
        <a:p>
          <a:endParaRPr lang="en-US" sz="2000" b="0" i="0">
            <a:latin typeface="+mn-lt"/>
          </a:endParaRPr>
        </a:p>
      </dgm:t>
    </dgm:pt>
    <dgm:pt modelId="{914BB93C-EA8A-4B5B-8F06-30DA7C7F4B7B}" type="sibTrans" cxnId="{5EDA943F-300F-408A-A52E-3D5140FD5C22}">
      <dgm:prSet/>
      <dgm:spPr/>
      <dgm:t>
        <a:bodyPr/>
        <a:lstStyle/>
        <a:p>
          <a:endParaRPr lang="en-US" sz="2000" b="0" i="0">
            <a:latin typeface="+mn-lt"/>
          </a:endParaRPr>
        </a:p>
      </dgm:t>
    </dgm:pt>
    <dgm:pt modelId="{D2FE027B-4161-41E1-B4D4-02AECB2E3FA0}">
      <dgm:prSet phldrT="[Text]" phldr="0" custT="1"/>
      <dgm:spPr/>
      <dgm:t>
        <a:bodyPr/>
        <a:lstStyle/>
        <a:p>
          <a:pPr>
            <a:defRPr b="1"/>
          </a:pPr>
          <a:r>
            <a:rPr lang="en-US" sz="2000" b="1" i="0" dirty="0">
              <a:latin typeface="+mn-lt"/>
            </a:rPr>
            <a:t>Q4</a:t>
          </a:r>
        </a:p>
      </dgm:t>
    </dgm:pt>
    <dgm:pt modelId="{88680CFE-3CE0-4842-B3D3-716D3B671238}" type="parTrans" cxnId="{4F4F82A2-02F1-492B-96C1-46C070BEFCE3}">
      <dgm:prSet/>
      <dgm:spPr/>
      <dgm:t>
        <a:bodyPr/>
        <a:lstStyle/>
        <a:p>
          <a:endParaRPr lang="en-US" sz="2000" b="0" i="0">
            <a:latin typeface="+mn-lt"/>
          </a:endParaRPr>
        </a:p>
      </dgm:t>
    </dgm:pt>
    <dgm:pt modelId="{4D59E06B-629C-40B5-96D3-423B7A56C945}" type="sibTrans" cxnId="{4F4F82A2-02F1-492B-96C1-46C070BEFCE3}">
      <dgm:prSet/>
      <dgm:spPr/>
      <dgm:t>
        <a:bodyPr/>
        <a:lstStyle/>
        <a:p>
          <a:endParaRPr lang="en-US" sz="2000" b="0" i="0">
            <a:latin typeface="+mn-lt"/>
          </a:endParaRPr>
        </a:p>
      </dgm:t>
    </dgm:pt>
    <dgm:pt modelId="{2BE415B7-7185-4956-8487-237B40BC0EE5}">
      <dgm:prSet phldrT="[Text]" phldr="0" custT="1"/>
      <dgm:spPr/>
      <dgm:t>
        <a:bodyPr/>
        <a:lstStyle/>
        <a:p>
          <a:pPr algn="ctr"/>
          <a:r>
            <a:rPr lang="en-US" sz="1800" dirty="0"/>
            <a:t>Holiday Season</a:t>
          </a:r>
          <a:endParaRPr lang="en-US" sz="1800" b="0" i="0" dirty="0">
            <a:latin typeface="+mn-lt"/>
          </a:endParaRPr>
        </a:p>
      </dgm:t>
    </dgm:pt>
    <dgm:pt modelId="{A38E847E-0D1D-4F40-9A71-4D5999ADE08B}" type="parTrans" cxnId="{CB32A309-9CA9-4554-941D-519A91A9E733}">
      <dgm:prSet/>
      <dgm:spPr/>
      <dgm:t>
        <a:bodyPr/>
        <a:lstStyle/>
        <a:p>
          <a:endParaRPr lang="en-US" sz="2000" b="0" i="0">
            <a:latin typeface="+mn-lt"/>
          </a:endParaRPr>
        </a:p>
      </dgm:t>
    </dgm:pt>
    <dgm:pt modelId="{F0D1C61C-E3F2-49BA-A2D8-C04A81308E5D}" type="sibTrans" cxnId="{CB32A309-9CA9-4554-941D-519A91A9E733}">
      <dgm:prSet/>
      <dgm:spPr/>
      <dgm:t>
        <a:bodyPr/>
        <a:lstStyle/>
        <a:p>
          <a:endParaRPr lang="en-US" sz="2000" b="0" i="0">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6">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6">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6">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6">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1044365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1667"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31667" y="2023805"/>
        <a:ext cx="3352166" cy="425865"/>
      </dsp:txXfrm>
    </dsp:sp>
    <dsp:sp modelId="{BA29120C-7C6B-4F62-9079-4AD528BC0744}">
      <dsp:nvSpPr>
        <dsp:cNvPr id="0" name=""/>
        <dsp:cNvSpPr/>
      </dsp:nvSpPr>
      <dsp:spPr>
        <a:xfrm>
          <a:off x="3110"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Winter Slowdown</a:t>
          </a:r>
          <a:endParaRPr lang="en-US" sz="1800" b="0" i="0" kern="1200" dirty="0">
            <a:latin typeface="+mn-lt"/>
          </a:endParaRPr>
        </a:p>
      </dsp:txBody>
      <dsp:txXfrm>
        <a:off x="34478" y="557105"/>
        <a:ext cx="3746544" cy="579831"/>
      </dsp:txXfrm>
    </dsp:sp>
    <dsp:sp modelId="{A95DB80B-444A-4D69-B205-3A801BB8524A}">
      <dsp:nvSpPr>
        <dsp:cNvPr id="0" name=""/>
        <dsp:cNvSpPr/>
      </dsp:nvSpPr>
      <dsp:spPr>
        <a:xfrm>
          <a:off x="1907750"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41050"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2441050" y="1319053"/>
        <a:ext cx="3352166" cy="425865"/>
      </dsp:txXfrm>
    </dsp:sp>
    <dsp:sp modelId="{FA19A0AA-8B0B-4AA8-A80D-08CFFDD3F112}">
      <dsp:nvSpPr>
        <dsp:cNvPr id="0" name=""/>
        <dsp:cNvSpPr/>
      </dsp:nvSpPr>
      <dsp:spPr>
        <a:xfrm>
          <a:off x="1879485"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12493"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Spring Purchasing </a:t>
          </a:r>
          <a:endParaRPr lang="en-US" sz="1800" b="0" i="0" kern="1200" dirty="0">
            <a:latin typeface="+mn-lt"/>
          </a:endParaRPr>
        </a:p>
      </dsp:txBody>
      <dsp:txXfrm>
        <a:off x="2243861" y="2631788"/>
        <a:ext cx="3746544" cy="579831"/>
      </dsp:txXfrm>
    </dsp:sp>
    <dsp:sp modelId="{DBD74D6B-057A-432C-9067-BF618C19EB2A}">
      <dsp:nvSpPr>
        <dsp:cNvPr id="0" name=""/>
        <dsp:cNvSpPr/>
      </dsp:nvSpPr>
      <dsp:spPr>
        <a:xfrm>
          <a:off x="4117133"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650432"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4650432" y="2023805"/>
        <a:ext cx="3352166" cy="425865"/>
      </dsp:txXfrm>
    </dsp:sp>
    <dsp:sp modelId="{0F979253-FD39-4920-BFCA-78C564B167EA}">
      <dsp:nvSpPr>
        <dsp:cNvPr id="0" name=""/>
        <dsp:cNvSpPr/>
      </dsp:nvSpPr>
      <dsp:spPr>
        <a:xfrm>
          <a:off x="408886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21876"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mn-lt"/>
            </a:rPr>
            <a:t> </a:t>
          </a:r>
          <a:r>
            <a:rPr lang="en-US" sz="1800" kern="1200" dirty="0"/>
            <a:t>Back-to-School</a:t>
          </a:r>
          <a:endParaRPr lang="en-US" sz="1800" b="0" i="0" kern="1200" dirty="0">
            <a:latin typeface="+mn-lt"/>
          </a:endParaRPr>
        </a:p>
      </dsp:txBody>
      <dsp:txXfrm>
        <a:off x="4453244" y="557105"/>
        <a:ext cx="3746544" cy="579831"/>
      </dsp:txXfrm>
    </dsp:sp>
    <dsp:sp modelId="{DCAE8A46-752C-4E82-84CE-E790E1F2918E}">
      <dsp:nvSpPr>
        <dsp:cNvPr id="0" name=""/>
        <dsp:cNvSpPr/>
      </dsp:nvSpPr>
      <dsp:spPr>
        <a:xfrm>
          <a:off x="6326516"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6859815"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6859815" y="1319053"/>
        <a:ext cx="3352166" cy="425865"/>
      </dsp:txXfrm>
    </dsp:sp>
    <dsp:sp modelId="{B6459BF8-D2C3-4018-9C28-98667DC203F4}">
      <dsp:nvSpPr>
        <dsp:cNvPr id="0" name=""/>
        <dsp:cNvSpPr/>
      </dsp:nvSpPr>
      <dsp:spPr>
        <a:xfrm>
          <a:off x="629825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6631258"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Holiday Season</a:t>
          </a:r>
          <a:endParaRPr lang="en-US" sz="1800" b="0" i="0" kern="1200" dirty="0">
            <a:latin typeface="+mn-lt"/>
          </a:endParaRPr>
        </a:p>
      </dsp:txBody>
      <dsp:txXfrm>
        <a:off x="6662626" y="2631788"/>
        <a:ext cx="3746544" cy="579831"/>
      </dsp:txXfrm>
    </dsp:sp>
    <dsp:sp modelId="{086FB9B1-82B2-4197-8B33-6E7FF94F8D2E}">
      <dsp:nvSpPr>
        <dsp:cNvPr id="0" name=""/>
        <dsp:cNvSpPr/>
      </dsp:nvSpPr>
      <dsp:spPr>
        <a:xfrm>
          <a:off x="8535899"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850763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1044365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1667"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31667" y="2023805"/>
        <a:ext cx="3352166" cy="425865"/>
      </dsp:txXfrm>
    </dsp:sp>
    <dsp:sp modelId="{BA29120C-7C6B-4F62-9079-4AD528BC0744}">
      <dsp:nvSpPr>
        <dsp:cNvPr id="0" name=""/>
        <dsp:cNvSpPr/>
      </dsp:nvSpPr>
      <dsp:spPr>
        <a:xfrm>
          <a:off x="3110"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Winter Slowdown</a:t>
          </a:r>
          <a:endParaRPr lang="en-US" sz="1800" b="0" i="0" kern="1200" dirty="0">
            <a:latin typeface="+mn-lt"/>
          </a:endParaRPr>
        </a:p>
      </dsp:txBody>
      <dsp:txXfrm>
        <a:off x="34478" y="557105"/>
        <a:ext cx="3746544" cy="579831"/>
      </dsp:txXfrm>
    </dsp:sp>
    <dsp:sp modelId="{A95DB80B-444A-4D69-B205-3A801BB8524A}">
      <dsp:nvSpPr>
        <dsp:cNvPr id="0" name=""/>
        <dsp:cNvSpPr/>
      </dsp:nvSpPr>
      <dsp:spPr>
        <a:xfrm>
          <a:off x="1907750"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41050"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2441050" y="1319053"/>
        <a:ext cx="3352166" cy="425865"/>
      </dsp:txXfrm>
    </dsp:sp>
    <dsp:sp modelId="{FA19A0AA-8B0B-4AA8-A80D-08CFFDD3F112}">
      <dsp:nvSpPr>
        <dsp:cNvPr id="0" name=""/>
        <dsp:cNvSpPr/>
      </dsp:nvSpPr>
      <dsp:spPr>
        <a:xfrm>
          <a:off x="1879485"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12493"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Spring Purchasing </a:t>
          </a:r>
          <a:endParaRPr lang="en-US" sz="1800" b="0" i="0" kern="1200" dirty="0">
            <a:latin typeface="+mn-lt"/>
          </a:endParaRPr>
        </a:p>
      </dsp:txBody>
      <dsp:txXfrm>
        <a:off x="2243861" y="2631788"/>
        <a:ext cx="3746544" cy="579831"/>
      </dsp:txXfrm>
    </dsp:sp>
    <dsp:sp modelId="{DBD74D6B-057A-432C-9067-BF618C19EB2A}">
      <dsp:nvSpPr>
        <dsp:cNvPr id="0" name=""/>
        <dsp:cNvSpPr/>
      </dsp:nvSpPr>
      <dsp:spPr>
        <a:xfrm>
          <a:off x="4117133"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650432"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4650432" y="2023805"/>
        <a:ext cx="3352166" cy="425865"/>
      </dsp:txXfrm>
    </dsp:sp>
    <dsp:sp modelId="{0F979253-FD39-4920-BFCA-78C564B167EA}">
      <dsp:nvSpPr>
        <dsp:cNvPr id="0" name=""/>
        <dsp:cNvSpPr/>
      </dsp:nvSpPr>
      <dsp:spPr>
        <a:xfrm>
          <a:off x="408886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21876"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mn-lt"/>
            </a:rPr>
            <a:t> </a:t>
          </a:r>
          <a:r>
            <a:rPr lang="en-US" sz="1800" kern="1200" dirty="0"/>
            <a:t>Back-to-School</a:t>
          </a:r>
          <a:endParaRPr lang="en-US" sz="1800" b="0" i="0" kern="1200" dirty="0">
            <a:latin typeface="+mn-lt"/>
          </a:endParaRPr>
        </a:p>
      </dsp:txBody>
      <dsp:txXfrm>
        <a:off x="4453244" y="557105"/>
        <a:ext cx="3746544" cy="579831"/>
      </dsp:txXfrm>
    </dsp:sp>
    <dsp:sp modelId="{DCAE8A46-752C-4E82-84CE-E790E1F2918E}">
      <dsp:nvSpPr>
        <dsp:cNvPr id="0" name=""/>
        <dsp:cNvSpPr/>
      </dsp:nvSpPr>
      <dsp:spPr>
        <a:xfrm>
          <a:off x="6326516"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6859815"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6859815" y="1319053"/>
        <a:ext cx="3352166" cy="425865"/>
      </dsp:txXfrm>
    </dsp:sp>
    <dsp:sp modelId="{B6459BF8-D2C3-4018-9C28-98667DC203F4}">
      <dsp:nvSpPr>
        <dsp:cNvPr id="0" name=""/>
        <dsp:cNvSpPr/>
      </dsp:nvSpPr>
      <dsp:spPr>
        <a:xfrm>
          <a:off x="629825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6631258"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Holiday Season</a:t>
          </a:r>
          <a:endParaRPr lang="en-US" sz="1800" b="0" i="0" kern="1200" dirty="0">
            <a:latin typeface="+mn-lt"/>
          </a:endParaRPr>
        </a:p>
      </dsp:txBody>
      <dsp:txXfrm>
        <a:off x="6662626" y="2631788"/>
        <a:ext cx="3746544" cy="579831"/>
      </dsp:txXfrm>
    </dsp:sp>
    <dsp:sp modelId="{086FB9B1-82B2-4197-8B33-6E7FF94F8D2E}">
      <dsp:nvSpPr>
        <dsp:cNvPr id="0" name=""/>
        <dsp:cNvSpPr/>
      </dsp:nvSpPr>
      <dsp:spPr>
        <a:xfrm>
          <a:off x="8535899"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850763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1044365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1667"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31667" y="2023805"/>
        <a:ext cx="3352166" cy="425865"/>
      </dsp:txXfrm>
    </dsp:sp>
    <dsp:sp modelId="{BA29120C-7C6B-4F62-9079-4AD528BC0744}">
      <dsp:nvSpPr>
        <dsp:cNvPr id="0" name=""/>
        <dsp:cNvSpPr/>
      </dsp:nvSpPr>
      <dsp:spPr>
        <a:xfrm>
          <a:off x="3110"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Winter Slowdown</a:t>
          </a:r>
          <a:endParaRPr lang="en-US" sz="1800" b="0" i="0" kern="1200" dirty="0">
            <a:latin typeface="+mn-lt"/>
          </a:endParaRPr>
        </a:p>
      </dsp:txBody>
      <dsp:txXfrm>
        <a:off x="34478" y="557105"/>
        <a:ext cx="3746544" cy="579831"/>
      </dsp:txXfrm>
    </dsp:sp>
    <dsp:sp modelId="{A95DB80B-444A-4D69-B205-3A801BB8524A}">
      <dsp:nvSpPr>
        <dsp:cNvPr id="0" name=""/>
        <dsp:cNvSpPr/>
      </dsp:nvSpPr>
      <dsp:spPr>
        <a:xfrm>
          <a:off x="1907750"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41050"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2441050" y="1319053"/>
        <a:ext cx="3352166" cy="425865"/>
      </dsp:txXfrm>
    </dsp:sp>
    <dsp:sp modelId="{FA19A0AA-8B0B-4AA8-A80D-08CFFDD3F112}">
      <dsp:nvSpPr>
        <dsp:cNvPr id="0" name=""/>
        <dsp:cNvSpPr/>
      </dsp:nvSpPr>
      <dsp:spPr>
        <a:xfrm>
          <a:off x="1879485"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12493"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Spring Purchasing </a:t>
          </a:r>
          <a:endParaRPr lang="en-US" sz="1800" b="0" i="0" kern="1200" dirty="0">
            <a:latin typeface="+mn-lt"/>
          </a:endParaRPr>
        </a:p>
      </dsp:txBody>
      <dsp:txXfrm>
        <a:off x="2243861" y="2631788"/>
        <a:ext cx="3746544" cy="579831"/>
      </dsp:txXfrm>
    </dsp:sp>
    <dsp:sp modelId="{DBD74D6B-057A-432C-9067-BF618C19EB2A}">
      <dsp:nvSpPr>
        <dsp:cNvPr id="0" name=""/>
        <dsp:cNvSpPr/>
      </dsp:nvSpPr>
      <dsp:spPr>
        <a:xfrm>
          <a:off x="4117133"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650432"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4650432" y="2023805"/>
        <a:ext cx="3352166" cy="425865"/>
      </dsp:txXfrm>
    </dsp:sp>
    <dsp:sp modelId="{0F979253-FD39-4920-BFCA-78C564B167EA}">
      <dsp:nvSpPr>
        <dsp:cNvPr id="0" name=""/>
        <dsp:cNvSpPr/>
      </dsp:nvSpPr>
      <dsp:spPr>
        <a:xfrm>
          <a:off x="408886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21876"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mn-lt"/>
            </a:rPr>
            <a:t> </a:t>
          </a:r>
          <a:r>
            <a:rPr lang="en-US" sz="1800" kern="1200" dirty="0"/>
            <a:t>Back-to-School</a:t>
          </a:r>
          <a:endParaRPr lang="en-US" sz="1800" b="0" i="0" kern="1200" dirty="0">
            <a:latin typeface="+mn-lt"/>
          </a:endParaRPr>
        </a:p>
      </dsp:txBody>
      <dsp:txXfrm>
        <a:off x="4453244" y="557105"/>
        <a:ext cx="3746544" cy="579831"/>
      </dsp:txXfrm>
    </dsp:sp>
    <dsp:sp modelId="{DCAE8A46-752C-4E82-84CE-E790E1F2918E}">
      <dsp:nvSpPr>
        <dsp:cNvPr id="0" name=""/>
        <dsp:cNvSpPr/>
      </dsp:nvSpPr>
      <dsp:spPr>
        <a:xfrm>
          <a:off x="6326516"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6859815"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6859815" y="1319053"/>
        <a:ext cx="3352166" cy="425865"/>
      </dsp:txXfrm>
    </dsp:sp>
    <dsp:sp modelId="{B6459BF8-D2C3-4018-9C28-98667DC203F4}">
      <dsp:nvSpPr>
        <dsp:cNvPr id="0" name=""/>
        <dsp:cNvSpPr/>
      </dsp:nvSpPr>
      <dsp:spPr>
        <a:xfrm>
          <a:off x="629825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6631258"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Holiday Season</a:t>
          </a:r>
          <a:endParaRPr lang="en-US" sz="1800" b="0" i="0" kern="1200" dirty="0">
            <a:latin typeface="+mn-lt"/>
          </a:endParaRPr>
        </a:p>
      </dsp:txBody>
      <dsp:txXfrm>
        <a:off x="6662626" y="2631788"/>
        <a:ext cx="3746544" cy="579831"/>
      </dsp:txXfrm>
    </dsp:sp>
    <dsp:sp modelId="{086FB9B1-82B2-4197-8B33-6E7FF94F8D2E}">
      <dsp:nvSpPr>
        <dsp:cNvPr id="0" name=""/>
        <dsp:cNvSpPr/>
      </dsp:nvSpPr>
      <dsp:spPr>
        <a:xfrm>
          <a:off x="8535899"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850763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1044365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1667"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31667" y="2023805"/>
        <a:ext cx="3352166" cy="425865"/>
      </dsp:txXfrm>
    </dsp:sp>
    <dsp:sp modelId="{BA29120C-7C6B-4F62-9079-4AD528BC0744}">
      <dsp:nvSpPr>
        <dsp:cNvPr id="0" name=""/>
        <dsp:cNvSpPr/>
      </dsp:nvSpPr>
      <dsp:spPr>
        <a:xfrm>
          <a:off x="3110"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Winter Slowdown</a:t>
          </a:r>
          <a:endParaRPr lang="en-US" sz="1800" b="0" i="0" kern="1200" dirty="0">
            <a:latin typeface="+mn-lt"/>
          </a:endParaRPr>
        </a:p>
      </dsp:txBody>
      <dsp:txXfrm>
        <a:off x="34478" y="557105"/>
        <a:ext cx="3746544" cy="579831"/>
      </dsp:txXfrm>
    </dsp:sp>
    <dsp:sp modelId="{A95DB80B-444A-4D69-B205-3A801BB8524A}">
      <dsp:nvSpPr>
        <dsp:cNvPr id="0" name=""/>
        <dsp:cNvSpPr/>
      </dsp:nvSpPr>
      <dsp:spPr>
        <a:xfrm>
          <a:off x="1907750"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41050"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2441050" y="1319053"/>
        <a:ext cx="3352166" cy="425865"/>
      </dsp:txXfrm>
    </dsp:sp>
    <dsp:sp modelId="{FA19A0AA-8B0B-4AA8-A80D-08CFFDD3F112}">
      <dsp:nvSpPr>
        <dsp:cNvPr id="0" name=""/>
        <dsp:cNvSpPr/>
      </dsp:nvSpPr>
      <dsp:spPr>
        <a:xfrm>
          <a:off x="1879485"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12493"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Spring Purchasing </a:t>
          </a:r>
          <a:endParaRPr lang="en-US" sz="1800" b="0" i="0" kern="1200" dirty="0">
            <a:latin typeface="+mn-lt"/>
          </a:endParaRPr>
        </a:p>
      </dsp:txBody>
      <dsp:txXfrm>
        <a:off x="2243861" y="2631788"/>
        <a:ext cx="3746544" cy="579831"/>
      </dsp:txXfrm>
    </dsp:sp>
    <dsp:sp modelId="{DBD74D6B-057A-432C-9067-BF618C19EB2A}">
      <dsp:nvSpPr>
        <dsp:cNvPr id="0" name=""/>
        <dsp:cNvSpPr/>
      </dsp:nvSpPr>
      <dsp:spPr>
        <a:xfrm>
          <a:off x="4117133"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650432"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4650432" y="2023805"/>
        <a:ext cx="3352166" cy="425865"/>
      </dsp:txXfrm>
    </dsp:sp>
    <dsp:sp modelId="{0F979253-FD39-4920-BFCA-78C564B167EA}">
      <dsp:nvSpPr>
        <dsp:cNvPr id="0" name=""/>
        <dsp:cNvSpPr/>
      </dsp:nvSpPr>
      <dsp:spPr>
        <a:xfrm>
          <a:off x="408886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21876"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mn-lt"/>
            </a:rPr>
            <a:t> </a:t>
          </a:r>
          <a:r>
            <a:rPr lang="en-US" sz="1800" kern="1200" dirty="0"/>
            <a:t>Back-to-School</a:t>
          </a:r>
          <a:endParaRPr lang="en-US" sz="1800" b="0" i="0" kern="1200" dirty="0">
            <a:latin typeface="+mn-lt"/>
          </a:endParaRPr>
        </a:p>
      </dsp:txBody>
      <dsp:txXfrm>
        <a:off x="4453244" y="557105"/>
        <a:ext cx="3746544" cy="579831"/>
      </dsp:txXfrm>
    </dsp:sp>
    <dsp:sp modelId="{DCAE8A46-752C-4E82-84CE-E790E1F2918E}">
      <dsp:nvSpPr>
        <dsp:cNvPr id="0" name=""/>
        <dsp:cNvSpPr/>
      </dsp:nvSpPr>
      <dsp:spPr>
        <a:xfrm>
          <a:off x="6326516"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6859815"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6859815" y="1319053"/>
        <a:ext cx="3352166" cy="425865"/>
      </dsp:txXfrm>
    </dsp:sp>
    <dsp:sp modelId="{B6459BF8-D2C3-4018-9C28-98667DC203F4}">
      <dsp:nvSpPr>
        <dsp:cNvPr id="0" name=""/>
        <dsp:cNvSpPr/>
      </dsp:nvSpPr>
      <dsp:spPr>
        <a:xfrm>
          <a:off x="629825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6631258"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Holiday Season</a:t>
          </a:r>
          <a:endParaRPr lang="en-US" sz="1800" b="0" i="0" kern="1200" dirty="0">
            <a:latin typeface="+mn-lt"/>
          </a:endParaRPr>
        </a:p>
      </dsp:txBody>
      <dsp:txXfrm>
        <a:off x="6662626" y="2631788"/>
        <a:ext cx="3746544" cy="579831"/>
      </dsp:txXfrm>
    </dsp:sp>
    <dsp:sp modelId="{086FB9B1-82B2-4197-8B33-6E7FF94F8D2E}">
      <dsp:nvSpPr>
        <dsp:cNvPr id="0" name=""/>
        <dsp:cNvSpPr/>
      </dsp:nvSpPr>
      <dsp:spPr>
        <a:xfrm>
          <a:off x="8535899"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850763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4362"/>
          <a:ext cx="10443650" cy="0"/>
        </a:xfrm>
        <a:prstGeom prst="line">
          <a:avLst/>
        </a:prstGeom>
        <a:solidFill>
          <a:schemeClr val="lt1">
            <a:alpha val="90000"/>
            <a:tint val="40000"/>
            <a:hueOff val="0"/>
            <a:satOff val="0"/>
            <a:lumOff val="0"/>
            <a:alphaOff val="0"/>
          </a:schemeClr>
        </a:solidFill>
        <a:ln w="12700" cap="flat" cmpd="sng" algn="ctr">
          <a:solidFill>
            <a:schemeClr val="accent6">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31667"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Q1</a:t>
          </a:r>
        </a:p>
      </dsp:txBody>
      <dsp:txXfrm>
        <a:off x="231667" y="2023805"/>
        <a:ext cx="3352166" cy="425865"/>
      </dsp:txXfrm>
    </dsp:sp>
    <dsp:sp modelId="{BA29120C-7C6B-4F62-9079-4AD528BC0744}">
      <dsp:nvSpPr>
        <dsp:cNvPr id="0" name=""/>
        <dsp:cNvSpPr/>
      </dsp:nvSpPr>
      <dsp:spPr>
        <a:xfrm>
          <a:off x="3110"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Winter Slowdown</a:t>
          </a:r>
          <a:endParaRPr lang="en-US" sz="1800" b="0" i="0" kern="1200" dirty="0">
            <a:latin typeface="+mn-lt"/>
          </a:endParaRPr>
        </a:p>
      </dsp:txBody>
      <dsp:txXfrm>
        <a:off x="34478" y="557105"/>
        <a:ext cx="3746544" cy="579831"/>
      </dsp:txXfrm>
    </dsp:sp>
    <dsp:sp modelId="{A95DB80B-444A-4D69-B205-3A801BB8524A}">
      <dsp:nvSpPr>
        <dsp:cNvPr id="0" name=""/>
        <dsp:cNvSpPr/>
      </dsp:nvSpPr>
      <dsp:spPr>
        <a:xfrm>
          <a:off x="1907750"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441050"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Q2</a:t>
          </a:r>
        </a:p>
      </dsp:txBody>
      <dsp:txXfrm>
        <a:off x="2441050" y="1319053"/>
        <a:ext cx="3352166" cy="425865"/>
      </dsp:txXfrm>
    </dsp:sp>
    <dsp:sp modelId="{FA19A0AA-8B0B-4AA8-A80D-08CFFDD3F112}">
      <dsp:nvSpPr>
        <dsp:cNvPr id="0" name=""/>
        <dsp:cNvSpPr/>
      </dsp:nvSpPr>
      <dsp:spPr>
        <a:xfrm>
          <a:off x="1879485"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212493"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Spring Purchasing </a:t>
          </a:r>
          <a:endParaRPr lang="en-US" sz="1800" b="0" i="0" kern="1200" dirty="0">
            <a:latin typeface="+mn-lt"/>
          </a:endParaRPr>
        </a:p>
      </dsp:txBody>
      <dsp:txXfrm>
        <a:off x="2243861" y="2631788"/>
        <a:ext cx="3746544" cy="579831"/>
      </dsp:txXfrm>
    </dsp:sp>
    <dsp:sp modelId="{DBD74D6B-057A-432C-9067-BF618C19EB2A}">
      <dsp:nvSpPr>
        <dsp:cNvPr id="0" name=""/>
        <dsp:cNvSpPr/>
      </dsp:nvSpPr>
      <dsp:spPr>
        <a:xfrm>
          <a:off x="4117133"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650432" y="2023805"/>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Q3</a:t>
          </a:r>
        </a:p>
      </dsp:txBody>
      <dsp:txXfrm>
        <a:off x="4650432" y="2023805"/>
        <a:ext cx="3352166" cy="425865"/>
      </dsp:txXfrm>
    </dsp:sp>
    <dsp:sp modelId="{0F979253-FD39-4920-BFCA-78C564B167EA}">
      <dsp:nvSpPr>
        <dsp:cNvPr id="0" name=""/>
        <dsp:cNvSpPr/>
      </dsp:nvSpPr>
      <dsp:spPr>
        <a:xfrm>
          <a:off x="4088868"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421876" y="525737"/>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mn-lt"/>
            </a:rPr>
            <a:t> </a:t>
          </a:r>
          <a:r>
            <a:rPr lang="en-US" sz="1800" kern="1200" dirty="0"/>
            <a:t>Back-to-School</a:t>
          </a:r>
          <a:endParaRPr lang="en-US" sz="1800" b="0" i="0" kern="1200" dirty="0">
            <a:latin typeface="+mn-lt"/>
          </a:endParaRPr>
        </a:p>
      </dsp:txBody>
      <dsp:txXfrm>
        <a:off x="4453244" y="557105"/>
        <a:ext cx="3746544" cy="579831"/>
      </dsp:txXfrm>
    </dsp:sp>
    <dsp:sp modelId="{DCAE8A46-752C-4E82-84CE-E790E1F2918E}">
      <dsp:nvSpPr>
        <dsp:cNvPr id="0" name=""/>
        <dsp:cNvSpPr/>
      </dsp:nvSpPr>
      <dsp:spPr>
        <a:xfrm>
          <a:off x="6326516" y="1168304"/>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6859815" y="1319053"/>
          <a:ext cx="3352166" cy="425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b="1" i="0" kern="1200" dirty="0">
              <a:latin typeface="+mn-lt"/>
            </a:rPr>
            <a:t>Q4</a:t>
          </a:r>
        </a:p>
      </dsp:txBody>
      <dsp:txXfrm>
        <a:off x="6859815" y="1319053"/>
        <a:ext cx="3352166" cy="425865"/>
      </dsp:txXfrm>
    </dsp:sp>
    <dsp:sp modelId="{B6459BF8-D2C3-4018-9C28-98667DC203F4}">
      <dsp:nvSpPr>
        <dsp:cNvPr id="0" name=""/>
        <dsp:cNvSpPr/>
      </dsp:nvSpPr>
      <dsp:spPr>
        <a:xfrm>
          <a:off x="6298250"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6631258" y="2600420"/>
          <a:ext cx="3809280" cy="642567"/>
        </a:xfrm>
        <a:prstGeom prst="roundRect">
          <a:avLst/>
        </a:prstGeom>
        <a:solidFill>
          <a:schemeClr val="accent6">
            <a:alpha val="90000"/>
            <a:tint val="4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t>Holiday Season</a:t>
          </a:r>
          <a:endParaRPr lang="en-US" sz="1800" b="0" i="0" kern="1200" dirty="0">
            <a:latin typeface="+mn-lt"/>
          </a:endParaRPr>
        </a:p>
      </dsp:txBody>
      <dsp:txXfrm>
        <a:off x="6662626" y="2631788"/>
        <a:ext cx="3746544" cy="579831"/>
      </dsp:txXfrm>
    </dsp:sp>
    <dsp:sp modelId="{086FB9B1-82B2-4197-8B33-6E7FF94F8D2E}">
      <dsp:nvSpPr>
        <dsp:cNvPr id="0" name=""/>
        <dsp:cNvSpPr/>
      </dsp:nvSpPr>
      <dsp:spPr>
        <a:xfrm>
          <a:off x="8535899" y="1884362"/>
          <a:ext cx="0" cy="716057"/>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8507633" y="1856097"/>
          <a:ext cx="56530" cy="56530"/>
        </a:xfrm>
        <a:prstGeom prst="ellipse">
          <a:avLst/>
        </a:prstGeom>
        <a:solidFill>
          <a:schemeClr val="lt1">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6/25/2026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6/25/2026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I'd like to walk you through an investigation, </a:t>
            </a:r>
            <a:r>
              <a:rPr lang="en-US" dirty="0" err="1"/>
              <a:t>EmporiUm</a:t>
            </a:r>
            <a:r>
              <a:rPr lang="en-US" dirty="0"/>
              <a:t> has four years of sales history across both online and physical stores. Rather than just asking what happened, I wanted to answer a more valuable business question</a:t>
            </a:r>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dirty="0"/>
          </a:p>
        </p:txBody>
      </p:sp>
    </p:spTree>
    <p:extLst>
      <p:ext uri="{BB962C8B-B14F-4D97-AF65-F5344CB8AC3E}">
        <p14:creationId xmlns:p14="http://schemas.microsoft.com/office/powerpoint/2010/main" val="2153973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we'll define the business problem.</a:t>
            </a:r>
          </a:p>
          <a:p>
            <a:r>
              <a:rPr lang="en-US" dirty="0"/>
              <a:t>Then I'll explain the assumptions I made before looking at the data.</a:t>
            </a:r>
          </a:p>
          <a:p>
            <a:r>
              <a:rPr lang="en-US" dirty="0"/>
              <a:t>Next I'll briefly explain how the data was prepared so we know the analysis is trustworthy.</a:t>
            </a:r>
          </a:p>
          <a:p>
            <a:r>
              <a:rPr lang="en-US" dirty="0"/>
              <a:t>From there we'll test those assumptions using Power BI before finishing with recommendations for the South Region.</a:t>
            </a:r>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dirty="0"/>
          </a:p>
        </p:txBody>
      </p:sp>
    </p:spTree>
    <p:extLst>
      <p:ext uri="{BB962C8B-B14F-4D97-AF65-F5344CB8AC3E}">
        <p14:creationId xmlns:p14="http://schemas.microsoft.com/office/powerpoint/2010/main" val="2588018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Before I even opened Power BI, I wanted to answer one question…Can the South Region Predict Seasonal Demand? </a:t>
            </a:r>
            <a:r>
              <a:rPr lang="en-US" dirty="0"/>
              <a:t>If seasonal demand exists, we can make smarter decisions around inventory planning, staffing, promotions, and online campaigns. If it doesn't exist, then reacting month by month may be the best strategy.</a:t>
            </a:r>
          </a:p>
          <a:p>
            <a:r>
              <a:rPr lang="en-US" dirty="0"/>
              <a:t>At this point we don't know the answer.</a:t>
            </a:r>
          </a:p>
          <a:p>
            <a:r>
              <a:rPr lang="en-US" dirty="0"/>
              <a:t>Before looking at any data, I created several hypotheses that I expected the analysis might support.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dirty="0"/>
          </a:p>
        </p:txBody>
      </p:sp>
    </p:spTree>
    <p:extLst>
      <p:ext uri="{BB962C8B-B14F-4D97-AF65-F5344CB8AC3E}">
        <p14:creationId xmlns:p14="http://schemas.microsoft.com/office/powerpoint/2010/main" val="2315961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this question I analyzed four years of sales data, and I discovered </a:t>
            </a:r>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dirty="0"/>
          </a:p>
        </p:txBody>
      </p:sp>
    </p:spTree>
    <p:extLst>
      <p:ext uri="{BB962C8B-B14F-4D97-AF65-F5344CB8AC3E}">
        <p14:creationId xmlns:p14="http://schemas.microsoft.com/office/powerpoint/2010/main" val="82647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considered what I would expect to happen throughout a typical retail year. I expected January and February to be the slowest months after holiday spending declines. Second, I anticipated stronger sales during the spring as students prepare for finals and summer classes. I expected another increase during the back-to-school season when students purchase textbooks and technology. Finally, I predicted the largest spike would occur during the holiday shopping season. These are only predictions. </a:t>
            </a:r>
            <a:r>
              <a:rPr lang="en-US" b="1" dirty="0"/>
              <a:t>Now let's see if the data supports them.</a:t>
            </a:r>
            <a:endParaRPr lang="en-US" dirty="0"/>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6</a:t>
            </a:fld>
            <a:endParaRPr lang="en-US" noProof="0" dirty="0"/>
          </a:p>
        </p:txBody>
      </p:sp>
    </p:spTree>
    <p:extLst>
      <p:ext uri="{BB962C8B-B14F-4D97-AF65-F5344CB8AC3E}">
        <p14:creationId xmlns:p14="http://schemas.microsoft.com/office/powerpoint/2010/main" val="666792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2E1D-EB50-D0A5-FAAE-AEA7893A3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8ADD6-F3C0-BF8E-B102-48472CF6B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C223-8156-27DB-1781-8D6B2EEC9AC9}"/>
              </a:ext>
            </a:extLst>
          </p:cNvPr>
          <p:cNvSpPr>
            <a:spLocks noGrp="1"/>
          </p:cNvSpPr>
          <p:nvPr>
            <p:ph type="body" idx="1"/>
          </p:nvPr>
        </p:nvSpPr>
        <p:spPr/>
        <p:txBody>
          <a:bodyPr/>
          <a:lstStyle/>
          <a:p>
            <a:r>
              <a:rPr lang="en-US" dirty="0"/>
              <a:t>I first considered what I would expect to happen throughout a typical retail year. I expected January and February to be the slowest months after holiday spending declines. Second, I anticipated stronger sales during the spring as students prepare for finals and summer classes. I expected another increase during the back-to-school season when students purchase textbooks and technology. Finally, I predicted the largest spike would occur during the holiday shopping season. These are only predictions. </a:t>
            </a:r>
            <a:r>
              <a:rPr lang="en-US" b="1" dirty="0"/>
              <a:t>Now let's see if the data supports them.</a:t>
            </a:r>
            <a:endParaRPr lang="en-US" dirty="0"/>
          </a:p>
          <a:p>
            <a:endParaRPr lang="en-US" dirty="0"/>
          </a:p>
        </p:txBody>
      </p:sp>
      <p:sp>
        <p:nvSpPr>
          <p:cNvPr id="4" name="Slide Number Placeholder 3">
            <a:extLst>
              <a:ext uri="{FF2B5EF4-FFF2-40B4-BE49-F238E27FC236}">
                <a16:creationId xmlns:a16="http://schemas.microsoft.com/office/drawing/2014/main" id="{B8C285EB-0243-4B80-7F73-8533765782C9}"/>
              </a:ext>
            </a:extLst>
          </p:cNvPr>
          <p:cNvSpPr>
            <a:spLocks noGrp="1"/>
          </p:cNvSpPr>
          <p:nvPr>
            <p:ph type="sldNum" sz="quarter" idx="5"/>
          </p:nvPr>
        </p:nvSpPr>
        <p:spPr/>
        <p:txBody>
          <a:bodyPr/>
          <a:lstStyle/>
          <a:p>
            <a:fld id="{EFDDBACE-0F8F-43FD-98F0-DEE13552DADA}" type="slidenum">
              <a:rPr lang="en-US" noProof="0" smtClean="0"/>
              <a:t>7</a:t>
            </a:fld>
            <a:endParaRPr lang="en-US" noProof="0" dirty="0"/>
          </a:p>
        </p:txBody>
      </p:sp>
    </p:spTree>
    <p:extLst>
      <p:ext uri="{BB962C8B-B14F-4D97-AF65-F5344CB8AC3E}">
        <p14:creationId xmlns:p14="http://schemas.microsoft.com/office/powerpoint/2010/main" val="2986979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3994D-D7FB-0205-F3E2-F964803C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C6755-020F-9FBD-1A91-444902973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5E7EC-ACF7-2214-2879-8792FE7EC883}"/>
              </a:ext>
            </a:extLst>
          </p:cNvPr>
          <p:cNvSpPr>
            <a:spLocks noGrp="1"/>
          </p:cNvSpPr>
          <p:nvPr>
            <p:ph type="body" idx="1"/>
          </p:nvPr>
        </p:nvSpPr>
        <p:spPr/>
        <p:txBody>
          <a:bodyPr/>
          <a:lstStyle/>
          <a:p>
            <a:r>
              <a:rPr lang="en-US" dirty="0"/>
              <a:t>I first considered what I would expect to happen throughout a typical retail year. I expected January and February to be the slowest months after holiday spending declines. Second, I anticipated stronger sales during the spring as students prepare for finals and summer classes. I expected another increase during the back-to-school season when students purchase textbooks and technology. Finally, I predicted the largest spike would occur during the holiday shopping season. These are only predictions. </a:t>
            </a:r>
            <a:r>
              <a:rPr lang="en-US" b="1" dirty="0"/>
              <a:t>Now let's see if the data supports them.</a:t>
            </a:r>
            <a:endParaRPr lang="en-US" dirty="0"/>
          </a:p>
          <a:p>
            <a:endParaRPr lang="en-US" dirty="0"/>
          </a:p>
        </p:txBody>
      </p:sp>
      <p:sp>
        <p:nvSpPr>
          <p:cNvPr id="4" name="Slide Number Placeholder 3">
            <a:extLst>
              <a:ext uri="{FF2B5EF4-FFF2-40B4-BE49-F238E27FC236}">
                <a16:creationId xmlns:a16="http://schemas.microsoft.com/office/drawing/2014/main" id="{8CAFE39A-DA7F-329C-D12B-F018BA582BA0}"/>
              </a:ext>
            </a:extLst>
          </p:cNvPr>
          <p:cNvSpPr>
            <a:spLocks noGrp="1"/>
          </p:cNvSpPr>
          <p:nvPr>
            <p:ph type="sldNum" sz="quarter" idx="5"/>
          </p:nvPr>
        </p:nvSpPr>
        <p:spPr/>
        <p:txBody>
          <a:bodyPr/>
          <a:lstStyle/>
          <a:p>
            <a:fld id="{EFDDBACE-0F8F-43FD-98F0-DEE13552DADA}" type="slidenum">
              <a:rPr lang="en-US" noProof="0" smtClean="0"/>
              <a:t>8</a:t>
            </a:fld>
            <a:endParaRPr lang="en-US" noProof="0" dirty="0"/>
          </a:p>
        </p:txBody>
      </p:sp>
    </p:spTree>
    <p:extLst>
      <p:ext uri="{BB962C8B-B14F-4D97-AF65-F5344CB8AC3E}">
        <p14:creationId xmlns:p14="http://schemas.microsoft.com/office/powerpoint/2010/main" val="1497302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B0160-AF1B-8465-8881-2B96DBD9D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16227-9AA9-D9CC-7C89-002C406576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E77F1-FE62-786D-35E0-E592D922E9E0}"/>
              </a:ext>
            </a:extLst>
          </p:cNvPr>
          <p:cNvSpPr>
            <a:spLocks noGrp="1"/>
          </p:cNvSpPr>
          <p:nvPr>
            <p:ph type="body" idx="1"/>
          </p:nvPr>
        </p:nvSpPr>
        <p:spPr/>
        <p:txBody>
          <a:bodyPr/>
          <a:lstStyle/>
          <a:p>
            <a:r>
              <a:rPr lang="en-US" dirty="0"/>
              <a:t>I first considered what I would expect to happen throughout a typical retail year. I expected January and February to be the slowest months after holiday spending declines. Second, I anticipated stronger sales during the spring as students prepare for finals and summer classes. I expected another increase during the back-to-school season when students purchase textbooks and technology. Finally, I predicted the largest spike would occur during the holiday shopping season. These are only predictions. </a:t>
            </a:r>
            <a:r>
              <a:rPr lang="en-US" b="1" dirty="0"/>
              <a:t>Now let's see if the data supports them.</a:t>
            </a:r>
            <a:endParaRPr lang="en-US" dirty="0"/>
          </a:p>
          <a:p>
            <a:endParaRPr lang="en-US" dirty="0"/>
          </a:p>
        </p:txBody>
      </p:sp>
      <p:sp>
        <p:nvSpPr>
          <p:cNvPr id="4" name="Slide Number Placeholder 3">
            <a:extLst>
              <a:ext uri="{FF2B5EF4-FFF2-40B4-BE49-F238E27FC236}">
                <a16:creationId xmlns:a16="http://schemas.microsoft.com/office/drawing/2014/main" id="{588242FB-2898-A41C-7340-0F127B7CB4EA}"/>
              </a:ext>
            </a:extLst>
          </p:cNvPr>
          <p:cNvSpPr>
            <a:spLocks noGrp="1"/>
          </p:cNvSpPr>
          <p:nvPr>
            <p:ph type="sldNum" sz="quarter" idx="5"/>
          </p:nvPr>
        </p:nvSpPr>
        <p:spPr/>
        <p:txBody>
          <a:bodyPr/>
          <a:lstStyle/>
          <a:p>
            <a:fld id="{EFDDBACE-0F8F-43FD-98F0-DEE13552DADA}" type="slidenum">
              <a:rPr lang="en-US" noProof="0" smtClean="0"/>
              <a:t>9</a:t>
            </a:fld>
            <a:endParaRPr lang="en-US" noProof="0" dirty="0"/>
          </a:p>
        </p:txBody>
      </p:sp>
    </p:spTree>
    <p:extLst>
      <p:ext uri="{BB962C8B-B14F-4D97-AF65-F5344CB8AC3E}">
        <p14:creationId xmlns:p14="http://schemas.microsoft.com/office/powerpoint/2010/main" val="1665573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80E69-8A8F-678C-B206-D9D5A0713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D2619-680D-8E1D-60DD-E016E0297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CDAA-6078-E567-4573-54E64282F4CF}"/>
              </a:ext>
            </a:extLst>
          </p:cNvPr>
          <p:cNvSpPr>
            <a:spLocks noGrp="1"/>
          </p:cNvSpPr>
          <p:nvPr>
            <p:ph type="body" idx="1"/>
          </p:nvPr>
        </p:nvSpPr>
        <p:spPr/>
        <p:txBody>
          <a:bodyPr/>
          <a:lstStyle/>
          <a:p>
            <a:r>
              <a:rPr lang="en-US" dirty="0"/>
              <a:t>I first considered what I would expect to happen throughout a typical retail year. I expected January and February to be the slowest months after holiday spending declines. Second, I anticipated stronger sales during the spring as students prepare for finals and summer classes. I expected another increase during the back-to-school season when students purchase textbooks and technology. Finally, I predicted the largest spike would occur during the holiday shopping season. These are only predictions. </a:t>
            </a:r>
            <a:r>
              <a:rPr lang="en-US" b="1" dirty="0"/>
              <a:t>Now let's see if the data supports them.</a:t>
            </a:r>
            <a:endParaRPr lang="en-US" dirty="0"/>
          </a:p>
          <a:p>
            <a:endParaRPr lang="en-US" dirty="0"/>
          </a:p>
        </p:txBody>
      </p:sp>
      <p:sp>
        <p:nvSpPr>
          <p:cNvPr id="4" name="Slide Number Placeholder 3">
            <a:extLst>
              <a:ext uri="{FF2B5EF4-FFF2-40B4-BE49-F238E27FC236}">
                <a16:creationId xmlns:a16="http://schemas.microsoft.com/office/drawing/2014/main" id="{83FB8BBC-F19C-E364-B62D-EBC7A5B74A9A}"/>
              </a:ext>
            </a:extLst>
          </p:cNvPr>
          <p:cNvSpPr>
            <a:spLocks noGrp="1"/>
          </p:cNvSpPr>
          <p:nvPr>
            <p:ph type="sldNum" sz="quarter" idx="5"/>
          </p:nvPr>
        </p:nvSpPr>
        <p:spPr/>
        <p:txBody>
          <a:bodyPr/>
          <a:lstStyle/>
          <a:p>
            <a:fld id="{EFDDBACE-0F8F-43FD-98F0-DEE13552DADA}" type="slidenum">
              <a:rPr lang="en-US" noProof="0" smtClean="0"/>
              <a:t>10</a:t>
            </a:fld>
            <a:endParaRPr lang="en-US" noProof="0" dirty="0"/>
          </a:p>
        </p:txBody>
      </p:sp>
    </p:spTree>
    <p:extLst>
      <p:ext uri="{BB962C8B-B14F-4D97-AF65-F5344CB8AC3E}">
        <p14:creationId xmlns:p14="http://schemas.microsoft.com/office/powerpoint/2010/main" val="2118185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testing any of our hypotheses, we first needed to make sure the data was reliable.</a:t>
            </a:r>
          </a:p>
          <a:p>
            <a:r>
              <a:rPr lang="en-US" dirty="0"/>
              <a:t>I imported multiple tables into Power BI and cleaned the data by removing unnecessary fields, correcting data types, and ensuring consistent formatting.</a:t>
            </a:r>
          </a:p>
          <a:p>
            <a:r>
              <a:rPr lang="en-US" dirty="0"/>
              <a:t>Next, I built relationships between the tables and created a dedicated Date table to support time-based analysis.</a:t>
            </a:r>
          </a:p>
          <a:p>
            <a:r>
              <a:rPr lang="en-US" dirty="0"/>
              <a:t>I then created DAX measures to calculate key business metrics such as revenue, online sales, and orders.</a:t>
            </a:r>
          </a:p>
          <a:p>
            <a:r>
              <a:rPr lang="en-US" dirty="0"/>
              <a:t>Finally, I validated the calculations and confirmed that stores were assigned to the correct regions.</a:t>
            </a:r>
          </a:p>
          <a:p>
            <a:r>
              <a:rPr lang="en-US" dirty="0"/>
              <a:t>Once I trusted the data, I could confidently test our hypotheses.</a:t>
            </a:r>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12</a:t>
            </a:fld>
            <a:endParaRPr lang="en-US" noProof="0" dirty="0"/>
          </a:p>
        </p:txBody>
      </p:sp>
    </p:spTree>
    <p:extLst>
      <p:ext uri="{BB962C8B-B14F-4D97-AF65-F5344CB8AC3E}">
        <p14:creationId xmlns:p14="http://schemas.microsoft.com/office/powerpoint/2010/main" val="2532761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I looked for was whether demand followed a predictable pattern.</a:t>
            </a:r>
          </a:p>
          <a:p>
            <a:r>
              <a:rPr lang="en-US" dirty="0"/>
              <a:t>Immediately one trend stood out.</a:t>
            </a:r>
          </a:p>
          <a:p>
            <a:r>
              <a:rPr lang="en-US" dirty="0"/>
              <a:t>February consistently produced the weakest sales across multiple years.</a:t>
            </a:r>
          </a:p>
          <a:p>
            <a:r>
              <a:rPr lang="en-US" dirty="0"/>
              <a:t>I also noticed Technology generated substantially more revenue than every other category.</a:t>
            </a:r>
          </a:p>
          <a:p>
            <a:r>
              <a:rPr lang="en-US" dirty="0"/>
              <a:t>Finally, online revenue exceeded in-store revenue, suggesting changing customer buying habits.</a:t>
            </a:r>
          </a:p>
          <a:p>
            <a:r>
              <a:rPr lang="en-US" dirty="0"/>
              <a:t>At this point, several of my original hypotheses had been supported.</a:t>
            </a:r>
          </a:p>
          <a:p>
            <a:r>
              <a:rPr lang="en-US" dirty="0"/>
              <a:t>But one question remained.</a:t>
            </a:r>
          </a:p>
          <a:p>
            <a:r>
              <a:rPr lang="en-US" b="1" dirty="0"/>
              <a:t>Did these same patterns exist in the South Region?</a:t>
            </a:r>
            <a:endParaRPr lang="en-US" dirty="0"/>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14</a:t>
            </a:fld>
            <a:endParaRPr lang="en-US" noProof="0" dirty="0"/>
          </a:p>
        </p:txBody>
      </p:sp>
    </p:spTree>
    <p:extLst>
      <p:ext uri="{BB962C8B-B14F-4D97-AF65-F5344CB8AC3E}">
        <p14:creationId xmlns:p14="http://schemas.microsoft.com/office/powerpoint/2010/main" val="2177443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narrowed the analysis to the South Region, three findings stood out immediately. Florida dominates. Technology dominates. February remains weak.</a:t>
            </a:r>
          </a:p>
        </p:txBody>
      </p:sp>
      <p:sp>
        <p:nvSpPr>
          <p:cNvPr id="4" name="Slide Number Placeholder 3"/>
          <p:cNvSpPr>
            <a:spLocks noGrp="1"/>
          </p:cNvSpPr>
          <p:nvPr>
            <p:ph type="sldNum" sz="quarter" idx="5"/>
          </p:nvPr>
        </p:nvSpPr>
        <p:spPr/>
        <p:txBody>
          <a:bodyPr/>
          <a:lstStyle/>
          <a:p>
            <a:fld id="{EFDDBACE-0F8F-43FD-98F0-DEE13552DADA}" type="slidenum">
              <a:rPr lang="en-US" noProof="0" smtClean="0"/>
              <a:t>16</a:t>
            </a:fld>
            <a:endParaRPr lang="en-US" noProof="0" dirty="0"/>
          </a:p>
        </p:txBody>
      </p:sp>
    </p:spTree>
    <p:extLst>
      <p:ext uri="{BB962C8B-B14F-4D97-AF65-F5344CB8AC3E}">
        <p14:creationId xmlns:p14="http://schemas.microsoft.com/office/powerpoint/2010/main" val="2499371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Technology generates the highest revenue by a wide margin. Florida and Texas generate nearly all South Region revenue. February is consistently the weakest sales month. October 2025 experienced an exceptional spike that was not repeated every year. Educational books remain among the top-selling titles.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18</a:t>
            </a:fld>
            <a:endParaRPr lang="en-US" noProof="0" dirty="0"/>
          </a:p>
        </p:txBody>
      </p:sp>
    </p:spTree>
    <p:extLst>
      <p:ext uri="{BB962C8B-B14F-4D97-AF65-F5344CB8AC3E}">
        <p14:creationId xmlns:p14="http://schemas.microsoft.com/office/powerpoint/2010/main" val="402286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began with one question. Are there predictable seasonal trends we can prepare for? The answer is yes.</a:t>
            </a:r>
          </a:p>
          <a:p>
            <a:endParaRPr lang="en-US" dirty="0"/>
          </a:p>
        </p:txBody>
      </p:sp>
      <p:sp>
        <p:nvSpPr>
          <p:cNvPr id="4" name="Slide Number Placeholder 3"/>
          <p:cNvSpPr>
            <a:spLocks noGrp="1"/>
          </p:cNvSpPr>
          <p:nvPr>
            <p:ph type="sldNum" sz="quarter" idx="5"/>
          </p:nvPr>
        </p:nvSpPr>
        <p:spPr/>
        <p:txBody>
          <a:bodyPr/>
          <a:lstStyle/>
          <a:p>
            <a:fld id="{EFDDBACE-0F8F-43FD-98F0-DEE13552DADA}" type="slidenum">
              <a:rPr lang="en-US" noProof="0" smtClean="0"/>
              <a:t>20</a:t>
            </a:fld>
            <a:endParaRPr lang="en-US" noProof="0" dirty="0"/>
          </a:p>
        </p:txBody>
      </p:sp>
    </p:spTree>
    <p:extLst>
      <p:ext uri="{BB962C8B-B14F-4D97-AF65-F5344CB8AC3E}">
        <p14:creationId xmlns:p14="http://schemas.microsoft.com/office/powerpoint/2010/main" val="17437417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a:t>Click to edit Master title style</a:t>
            </a:r>
            <a:endParaRPr lang="en-US" dirty="0"/>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r>
              <a:rPr lang="en-US"/>
              <a:t>Click icon to add picture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r>
              <a:rPr lang="en-US"/>
              <a:t>Click icon to add picture</a:t>
            </a:r>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r>
              <a:rPr lang="en-US"/>
              <a:t>Click to edit Master text styles</a:t>
            </a:r>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r>
              <a:rPr lang="en-US"/>
              <a:t>Click to edit Master text styles</a:t>
            </a:r>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a:extLst>
              <a:ext uri="{96DAC541-7B7A-43D3-8B79-37D633B846F1}">
                <asvg:svgBlip xmlns:asvg="http://schemas.microsoft.com/office/drawing/2016/SVG/main" r:embed="rId2"/>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a:t>Click to edit Master title style</a:t>
            </a:r>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5.svg"/><Relationship Id="rId2" Type="http://schemas.openxmlformats.org/officeDocument/2006/relationships/image" Target="../media/image6.svg"/><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6.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image" Target="../media/image9.svg"/><Relationship Id="rId5" Type="http://schemas.openxmlformats.org/officeDocument/2006/relationships/diagramQuickStyle" Target="../diagrams/quickStyle1.xml"/><Relationship Id="rId10" Type="http://schemas.openxmlformats.org/officeDocument/2006/relationships/image" Target="../media/image8.svg"/><Relationship Id="rId4" Type="http://schemas.openxmlformats.org/officeDocument/2006/relationships/diagramLayout" Target="../diagrams/layout1.xml"/><Relationship Id="rId9" Type="http://schemas.openxmlformats.org/officeDocument/2006/relationships/image" Target="../media/image7.svg"/><Relationship Id="rId14" Type="http://schemas.openxmlformats.org/officeDocument/2006/relationships/image" Target="../media/image12.sv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6.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11" Type="http://schemas.openxmlformats.org/officeDocument/2006/relationships/image" Target="../media/image9.svg"/><Relationship Id="rId5" Type="http://schemas.openxmlformats.org/officeDocument/2006/relationships/diagramQuickStyle" Target="../diagrams/quickStyle2.xml"/><Relationship Id="rId10" Type="http://schemas.openxmlformats.org/officeDocument/2006/relationships/image" Target="../media/image8.svg"/><Relationship Id="rId4" Type="http://schemas.openxmlformats.org/officeDocument/2006/relationships/diagramLayout" Target="../diagrams/layout2.xml"/><Relationship Id="rId9" Type="http://schemas.openxmlformats.org/officeDocument/2006/relationships/image" Target="../media/image7.svg"/><Relationship Id="rId14"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6.sv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3.xml"/><Relationship Id="rId11" Type="http://schemas.openxmlformats.org/officeDocument/2006/relationships/image" Target="../media/image9.svg"/><Relationship Id="rId5" Type="http://schemas.openxmlformats.org/officeDocument/2006/relationships/diagramQuickStyle" Target="../diagrams/quickStyle3.xml"/><Relationship Id="rId10" Type="http://schemas.openxmlformats.org/officeDocument/2006/relationships/image" Target="../media/image8.svg"/><Relationship Id="rId4" Type="http://schemas.openxmlformats.org/officeDocument/2006/relationships/diagramLayout" Target="../diagrams/layout3.xml"/><Relationship Id="rId9" Type="http://schemas.openxmlformats.org/officeDocument/2006/relationships/image" Target="../media/image7.svg"/><Relationship Id="rId14" Type="http://schemas.openxmlformats.org/officeDocument/2006/relationships/image" Target="../media/image12.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6.sv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image" Target="../media/image9.svg"/><Relationship Id="rId5" Type="http://schemas.openxmlformats.org/officeDocument/2006/relationships/diagramQuickStyle" Target="../diagrams/quickStyle4.xml"/><Relationship Id="rId10" Type="http://schemas.openxmlformats.org/officeDocument/2006/relationships/image" Target="../media/image8.svg"/><Relationship Id="rId4" Type="http://schemas.openxmlformats.org/officeDocument/2006/relationships/diagramLayout" Target="../diagrams/layout4.xml"/><Relationship Id="rId9" Type="http://schemas.openxmlformats.org/officeDocument/2006/relationships/image" Target="../media/image7.svg"/><Relationship Id="rId14"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6.sv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5.xml"/><Relationship Id="rId11" Type="http://schemas.openxmlformats.org/officeDocument/2006/relationships/image" Target="../media/image9.svg"/><Relationship Id="rId5" Type="http://schemas.openxmlformats.org/officeDocument/2006/relationships/diagramQuickStyle" Target="../diagrams/quickStyle5.xml"/><Relationship Id="rId10" Type="http://schemas.openxmlformats.org/officeDocument/2006/relationships/image" Target="../media/image8.svg"/><Relationship Id="rId4" Type="http://schemas.openxmlformats.org/officeDocument/2006/relationships/diagramLayout" Target="../diagrams/layout5.xml"/><Relationship Id="rId9" Type="http://schemas.openxmlformats.org/officeDocument/2006/relationships/image" Target="../media/image7.svg"/><Relationship Id="rId14" Type="http://schemas.openxmlformats.org/officeDocument/2006/relationships/image" Target="../media/image12.sv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8.svg"/><Relationship Id="rId2" Type="http://schemas.openxmlformats.org/officeDocument/2006/relationships/image" Target="../media/image6.svg"/><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17.sv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9.svg"/><Relationship Id="rId5" Type="http://schemas.openxmlformats.org/officeDocument/2006/relationships/image" Target="../media/image8.svg"/><Relationship Id="rId4" Type="http://schemas.openxmlformats.org/officeDocument/2006/relationships/image" Target="../media/image7.svg"/><Relationship Id="rId9" Type="http://schemas.openxmlformats.org/officeDocument/2006/relationships/image" Target="../media/image12.svg"/></Relationships>
</file>

<file path=ppt/slides/_rels/slide1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1.xml"/><Relationship Id="rId6" Type="http://schemas.openxmlformats.org/officeDocument/2006/relationships/image" Target="../media/image20.svg"/><Relationship Id="rId5" Type="http://schemas.openxmlformats.org/officeDocument/2006/relationships/image" Target="../media/image9.sv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1.xml"/><Relationship Id="rId6" Type="http://schemas.openxmlformats.org/officeDocument/2006/relationships/image" Target="../media/image23.svg"/><Relationship Id="rId5" Type="http://schemas.openxmlformats.org/officeDocument/2006/relationships/image" Target="../media/image9.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9.svg"/><Relationship Id="rId5" Type="http://schemas.openxmlformats.org/officeDocument/2006/relationships/image" Target="../media/image8.svg"/><Relationship Id="rId10" Type="http://schemas.openxmlformats.org/officeDocument/2006/relationships/image" Target="../media/image24.png"/><Relationship Id="rId4" Type="http://schemas.openxmlformats.org/officeDocument/2006/relationships/image" Target="../media/image7.svg"/><Relationship Id="rId9" Type="http://schemas.openxmlformats.org/officeDocument/2006/relationships/image" Target="../media/image12.svg"/></Relationships>
</file>

<file path=ppt/slides/_rels/slide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5.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1.xml"/><Relationship Id="rId6" Type="http://schemas.openxmlformats.org/officeDocument/2006/relationships/image" Target="../media/image23.svg"/><Relationship Id="rId5" Type="http://schemas.openxmlformats.org/officeDocument/2006/relationships/image" Target="../media/image9.sv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10" Type="http://schemas.openxmlformats.org/officeDocument/2006/relationships/image" Target="../media/image26.png"/><Relationship Id="rId4" Type="http://schemas.openxmlformats.org/officeDocument/2006/relationships/image" Target="../media/image7.svg"/><Relationship Id="rId9" Type="http://schemas.openxmlformats.org/officeDocument/2006/relationships/image" Target="../media/image12.svg"/></Relationships>
</file>

<file path=ppt/slides/_rels/slide1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27.svg"/><Relationship Id="rId1" Type="http://schemas.openxmlformats.org/officeDocument/2006/relationships/slideLayout" Target="../slideLayouts/slideLayout11.xml"/><Relationship Id="rId6" Type="http://schemas.openxmlformats.org/officeDocument/2006/relationships/image" Target="../media/image11.svg"/><Relationship Id="rId5" Type="http://schemas.openxmlformats.org/officeDocument/2006/relationships/image" Target="../media/image23.svg"/><Relationship Id="rId4" Type="http://schemas.openxmlformats.org/officeDocument/2006/relationships/image" Target="../media/image9.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3.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841248"/>
            <a:ext cx="10479024" cy="557784"/>
          </a:xfrm>
        </p:spPr>
        <p:txBody>
          <a:bodyPr/>
          <a:lstStyle/>
          <a:p>
            <a:r>
              <a:rPr lang="en-US" sz="1600" dirty="0"/>
              <a:t>Jordan Worrobah</a:t>
            </a:r>
            <a:br>
              <a:rPr lang="en-US" sz="1600" dirty="0"/>
            </a:br>
            <a:r>
              <a:rPr lang="en-US" sz="1200" dirty="0"/>
              <a:t>Data Analyst</a:t>
            </a:r>
            <a:br>
              <a:rPr lang="en-US" dirty="0"/>
            </a:br>
            <a:endParaRPr lang="en-US" dirty="0"/>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057" y="1746504"/>
            <a:ext cx="10479215" cy="4480560"/>
          </a:xfrm>
        </p:spPr>
        <p:txBody>
          <a:bodyPr/>
          <a:lstStyle/>
          <a:p>
            <a:r>
              <a:rPr lang="en-US" dirty="0"/>
              <a:t>	</a:t>
            </a:r>
            <a:r>
              <a:rPr lang="en-US" dirty="0" err="1"/>
              <a:t>EmporiUm</a:t>
            </a:r>
            <a:r>
              <a:rPr lang="en-US" dirty="0"/>
              <a:t> Sales Performance</a:t>
            </a:r>
            <a:br>
              <a:rPr lang="en-US" dirty="0"/>
            </a:br>
            <a:r>
              <a:rPr lang="en-US" dirty="0"/>
              <a:t>	South Region Analysis</a:t>
            </a:r>
          </a:p>
        </p:txBody>
      </p:sp>
    </p:spTree>
    <p:extLst>
      <p:ext uri="{BB962C8B-B14F-4D97-AF65-F5344CB8AC3E}">
        <p14:creationId xmlns:p14="http://schemas.microsoft.com/office/powerpoint/2010/main" val="1516999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23F-2B95-8D5A-8578-DBC0FC0DCEA8}"/>
              </a:ext>
            </a:extLst>
          </p:cNvPr>
          <p:cNvSpPr>
            <a:spLocks noGrp="1"/>
          </p:cNvSpPr>
          <p:nvPr>
            <p:ph type="title"/>
          </p:nvPr>
        </p:nvSpPr>
        <p:spPr>
          <a:xfrm>
            <a:off x="841248" y="841248"/>
            <a:ext cx="10479024" cy="557784"/>
          </a:xfrm>
        </p:spPr>
        <p:txBody>
          <a:bodyPr/>
          <a:lstStyle/>
          <a:p>
            <a:r>
              <a:rPr lang="en-US" dirty="0"/>
              <a:t>Agenda</a:t>
            </a:r>
          </a:p>
        </p:txBody>
      </p:sp>
      <p:sp>
        <p:nvSpPr>
          <p:cNvPr id="5" name="Text Placeholder 4">
            <a:extLst>
              <a:ext uri="{FF2B5EF4-FFF2-40B4-BE49-F238E27FC236}">
                <a16:creationId xmlns:a16="http://schemas.microsoft.com/office/drawing/2014/main" id="{DFFF7AA9-7C16-A939-67C8-DF700FEF7D83}"/>
              </a:ext>
            </a:extLst>
          </p:cNvPr>
          <p:cNvSpPr>
            <a:spLocks noGrp="1"/>
          </p:cNvSpPr>
          <p:nvPr>
            <p:ph sz="quarter" idx="13"/>
          </p:nvPr>
        </p:nvSpPr>
        <p:spPr>
          <a:xfrm>
            <a:off x="841248" y="1536827"/>
            <a:ext cx="6556375" cy="4479925"/>
          </a:xfrm>
        </p:spPr>
        <p:txBody>
          <a:bodyPr/>
          <a:lstStyle/>
          <a:p>
            <a:r>
              <a:rPr lang="en-US" dirty="0"/>
              <a:t>The Business Problem</a:t>
            </a:r>
          </a:p>
          <a:p>
            <a:r>
              <a:rPr lang="en-US" dirty="0"/>
              <a:t>Initial Hypotheses</a:t>
            </a:r>
          </a:p>
          <a:p>
            <a:r>
              <a:rPr lang="en-US" dirty="0"/>
              <a:t>Preparing the Data</a:t>
            </a:r>
          </a:p>
          <a:p>
            <a:r>
              <a:rPr lang="en-US" dirty="0"/>
              <a:t>Testing the Evidence</a:t>
            </a:r>
          </a:p>
          <a:p>
            <a:r>
              <a:rPr lang="en-US" dirty="0"/>
              <a:t>South Region Findings</a:t>
            </a:r>
          </a:p>
          <a:p>
            <a:r>
              <a:rPr lang="en-US" dirty="0"/>
              <a:t>Business Recommendations</a:t>
            </a:r>
          </a:p>
          <a:p>
            <a:r>
              <a:rPr lang="en-US" dirty="0"/>
              <a:t>Key Takeaways &amp; Questions</a:t>
            </a:r>
          </a:p>
        </p:txBody>
      </p:sp>
      <p:sp>
        <p:nvSpPr>
          <p:cNvPr id="4" name="Slide Number Placeholder 3">
            <a:extLst>
              <a:ext uri="{FF2B5EF4-FFF2-40B4-BE49-F238E27FC236}">
                <a16:creationId xmlns:a16="http://schemas.microsoft.com/office/drawing/2014/main" id="{58FEA6BC-F3A8-6DDC-F1F8-6348F54E8BE2}"/>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2</a:t>
            </a:fld>
            <a:endParaRPr lang="en-US" dirty="0"/>
          </a:p>
        </p:txBody>
      </p:sp>
      <p:pic>
        <p:nvPicPr>
          <p:cNvPr id="6" name="Graphic 5" descr="Race Flag with solid fill">
            <a:extLst>
              <a:ext uri="{FF2B5EF4-FFF2-40B4-BE49-F238E27FC236}">
                <a16:creationId xmlns:a16="http://schemas.microsoft.com/office/drawing/2014/main" id="{376E373F-0B01-CB83-BBE5-7ACDBF9DC4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82116" y="5321173"/>
            <a:ext cx="360235" cy="360235"/>
          </a:xfrm>
          <a:prstGeom prst="rect">
            <a:avLst/>
          </a:prstGeom>
        </p:spPr>
      </p:pic>
      <p:pic>
        <p:nvPicPr>
          <p:cNvPr id="8" name="Graphic 7" descr="Lights On with solid fill">
            <a:extLst>
              <a:ext uri="{FF2B5EF4-FFF2-40B4-BE49-F238E27FC236}">
                <a16:creationId xmlns:a16="http://schemas.microsoft.com/office/drawing/2014/main" id="{CC5BEF3A-66DD-E702-9CA5-62717953E0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2234" y="4688332"/>
            <a:ext cx="360235" cy="360235"/>
          </a:xfrm>
          <a:prstGeom prst="rect">
            <a:avLst/>
          </a:prstGeom>
        </p:spPr>
      </p:pic>
      <p:pic>
        <p:nvPicPr>
          <p:cNvPr id="10" name="Graphic 9" descr="Pin with solid fill">
            <a:extLst>
              <a:ext uri="{FF2B5EF4-FFF2-40B4-BE49-F238E27FC236}">
                <a16:creationId xmlns:a16="http://schemas.microsoft.com/office/drawing/2014/main" id="{F3978009-6093-97E0-1FD5-54DFB5FE4E6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03190" y="406638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8622251E-EF7E-7444-E00F-51CD021C0D7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50664" y="2930970"/>
            <a:ext cx="360235" cy="360235"/>
          </a:xfrm>
          <a:prstGeom prst="rect">
            <a:avLst/>
          </a:prstGeom>
        </p:spPr>
      </p:pic>
      <p:pic>
        <p:nvPicPr>
          <p:cNvPr id="14" name="Graphic 13" descr="Tools with solid fill">
            <a:extLst>
              <a:ext uri="{FF2B5EF4-FFF2-40B4-BE49-F238E27FC236}">
                <a16:creationId xmlns:a16="http://schemas.microsoft.com/office/drawing/2014/main" id="{40B76B0C-A4CF-019C-AB60-69F5D3CF73F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21480" y="3513086"/>
            <a:ext cx="360235" cy="360235"/>
          </a:xfrm>
          <a:prstGeom prst="rect">
            <a:avLst/>
          </a:prstGeom>
        </p:spPr>
      </p:pic>
      <p:pic>
        <p:nvPicPr>
          <p:cNvPr id="16" name="Graphic 15" descr="Left Brain with solid fill">
            <a:extLst>
              <a:ext uri="{FF2B5EF4-FFF2-40B4-BE49-F238E27FC236}">
                <a16:creationId xmlns:a16="http://schemas.microsoft.com/office/drawing/2014/main" id="{24B29825-02FF-43B9-3A54-9A90548078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39317" y="2321720"/>
            <a:ext cx="360235" cy="360235"/>
          </a:xfrm>
          <a:prstGeom prst="rect">
            <a:avLst/>
          </a:prstGeom>
        </p:spPr>
      </p:pic>
      <p:pic>
        <p:nvPicPr>
          <p:cNvPr id="18" name="Graphic 17" descr="Magnifying glass with solid fill">
            <a:extLst>
              <a:ext uri="{FF2B5EF4-FFF2-40B4-BE49-F238E27FC236}">
                <a16:creationId xmlns:a16="http://schemas.microsoft.com/office/drawing/2014/main" id="{EB504CCE-4D57-9078-B662-A32DADBC1D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503191" y="1729891"/>
            <a:ext cx="360235" cy="360235"/>
          </a:xfrm>
          <a:prstGeom prst="rect">
            <a:avLst/>
          </a:prstGeom>
        </p:spPr>
      </p:pic>
    </p:spTree>
    <p:extLst>
      <p:ext uri="{BB962C8B-B14F-4D97-AF65-F5344CB8AC3E}">
        <p14:creationId xmlns:p14="http://schemas.microsoft.com/office/powerpoint/2010/main" val="4132634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F36F11-A50A-4347-9430-9522EAFCAB77}"/>
              </a:ext>
            </a:extLst>
          </p:cNvPr>
          <p:cNvSpPr>
            <a:spLocks noGrp="1"/>
          </p:cNvSpPr>
          <p:nvPr>
            <p:ph type="title"/>
          </p:nvPr>
        </p:nvSpPr>
        <p:spPr>
          <a:xfrm>
            <a:off x="728802" y="1514666"/>
            <a:ext cx="4662019" cy="3088573"/>
          </a:xfrm>
        </p:spPr>
        <p:txBody>
          <a:bodyPr/>
          <a:lstStyle/>
          <a:p>
            <a:r>
              <a:rPr lang="en-US" sz="3600" dirty="0"/>
              <a:t>Before I even </a:t>
            </a:r>
            <a:br>
              <a:rPr lang="en-US" sz="3600" dirty="0"/>
            </a:br>
            <a:r>
              <a:rPr lang="en-US" sz="3600" dirty="0"/>
              <a:t>opened Power BI</a:t>
            </a:r>
            <a:br>
              <a:rPr lang="en-US" sz="3600" dirty="0"/>
            </a:br>
            <a:br>
              <a:rPr lang="en-US" sz="3600" dirty="0"/>
            </a:br>
            <a:r>
              <a:rPr lang="en-US" sz="3600" dirty="0"/>
              <a:t>I wanted to </a:t>
            </a:r>
            <a:br>
              <a:rPr lang="en-US" sz="3600" dirty="0"/>
            </a:br>
            <a:r>
              <a:rPr lang="en-US" sz="3600" dirty="0"/>
              <a:t>answer one </a:t>
            </a:r>
            <a:br>
              <a:rPr lang="en-US" sz="3600" dirty="0"/>
            </a:br>
            <a:r>
              <a:rPr lang="en-US" sz="3600" dirty="0"/>
              <a:t>question</a:t>
            </a:r>
            <a:br>
              <a:rPr lang="en-US" dirty="0"/>
            </a:br>
            <a:br>
              <a:rPr lang="en-US" dirty="0"/>
            </a:br>
            <a:endParaRPr lang="en-US" dirty="0"/>
          </a:p>
        </p:txBody>
      </p:sp>
      <p:sp>
        <p:nvSpPr>
          <p:cNvPr id="4" name="Text Placeholder 3">
            <a:extLst>
              <a:ext uri="{FF2B5EF4-FFF2-40B4-BE49-F238E27FC236}">
                <a16:creationId xmlns:a16="http://schemas.microsoft.com/office/drawing/2014/main" id="{9A1E0E93-C6B0-0C8B-16D2-354982229DB1}"/>
              </a:ext>
            </a:extLst>
          </p:cNvPr>
          <p:cNvSpPr>
            <a:spLocks noGrp="1"/>
          </p:cNvSpPr>
          <p:nvPr>
            <p:ph type="body" sz="quarter" idx="10"/>
          </p:nvPr>
        </p:nvSpPr>
        <p:spPr>
          <a:xfrm>
            <a:off x="6803897" y="3058953"/>
            <a:ext cx="3797428" cy="740093"/>
          </a:xfrm>
        </p:spPr>
        <p:txBody>
          <a:bodyPr numCol="1"/>
          <a:lstStyle/>
          <a:p>
            <a:pPr algn="ctr"/>
            <a:r>
              <a:rPr lang="en-US" sz="3600" dirty="0"/>
              <a:t>Can the South Region Predict Seasonal Demand?</a:t>
            </a:r>
          </a:p>
        </p:txBody>
      </p:sp>
      <p:pic>
        <p:nvPicPr>
          <p:cNvPr id="6" name="Graphic 5" descr="Race Flag with solid fill">
            <a:extLst>
              <a:ext uri="{FF2B5EF4-FFF2-40B4-BE49-F238E27FC236}">
                <a16:creationId xmlns:a16="http://schemas.microsoft.com/office/drawing/2014/main" id="{408ED7DE-29E4-1F4B-E3E1-FAF27AB0C5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8" name="Graphic 7" descr="Lights On with solid fill">
            <a:extLst>
              <a:ext uri="{FF2B5EF4-FFF2-40B4-BE49-F238E27FC236}">
                <a16:creationId xmlns:a16="http://schemas.microsoft.com/office/drawing/2014/main" id="{ABD06A5F-C2ED-EF24-FDA1-BE32781197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1049" y="6483327"/>
            <a:ext cx="360235" cy="360235"/>
          </a:xfrm>
          <a:prstGeom prst="rect">
            <a:avLst/>
          </a:prstGeom>
        </p:spPr>
      </p:pic>
      <p:pic>
        <p:nvPicPr>
          <p:cNvPr id="10" name="Graphic 9" descr="Pin with solid fill">
            <a:extLst>
              <a:ext uri="{FF2B5EF4-FFF2-40B4-BE49-F238E27FC236}">
                <a16:creationId xmlns:a16="http://schemas.microsoft.com/office/drawing/2014/main" id="{6CF34803-5A84-C029-186F-7663D2A87E0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7353" y="649776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424D4DF8-52D3-86E3-3A2E-A0B7DCB93F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6459" y="6497765"/>
            <a:ext cx="360235" cy="360235"/>
          </a:xfrm>
          <a:prstGeom prst="rect">
            <a:avLst/>
          </a:prstGeom>
        </p:spPr>
      </p:pic>
      <p:pic>
        <p:nvPicPr>
          <p:cNvPr id="14" name="Graphic 13" descr="Tools with solid fill">
            <a:extLst>
              <a:ext uri="{FF2B5EF4-FFF2-40B4-BE49-F238E27FC236}">
                <a16:creationId xmlns:a16="http://schemas.microsoft.com/office/drawing/2014/main" id="{0D236780-8108-34B3-59DD-220CC00763F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3657" y="6497765"/>
            <a:ext cx="360235" cy="360235"/>
          </a:xfrm>
          <a:prstGeom prst="rect">
            <a:avLst/>
          </a:prstGeom>
        </p:spPr>
      </p:pic>
      <p:pic>
        <p:nvPicPr>
          <p:cNvPr id="16" name="Graphic 15" descr="Left Brain with solid fill">
            <a:extLst>
              <a:ext uri="{FF2B5EF4-FFF2-40B4-BE49-F238E27FC236}">
                <a16:creationId xmlns:a16="http://schemas.microsoft.com/office/drawing/2014/main" id="{19B8F9AD-68CC-239A-365F-2D7215586D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1012" y="6483327"/>
            <a:ext cx="360235" cy="360235"/>
          </a:xfrm>
          <a:prstGeom prst="rect">
            <a:avLst/>
          </a:prstGeom>
        </p:spPr>
      </p:pic>
      <p:pic>
        <p:nvPicPr>
          <p:cNvPr id="18" name="Graphic 17" descr="Magnifying glass with solid fill">
            <a:extLst>
              <a:ext uri="{FF2B5EF4-FFF2-40B4-BE49-F238E27FC236}">
                <a16:creationId xmlns:a16="http://schemas.microsoft.com/office/drawing/2014/main" id="{A09E3FDE-E63E-A5C6-53B2-4836C12183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78375" y="128119"/>
            <a:ext cx="8484378" cy="8484378"/>
          </a:xfrm>
          <a:prstGeom prst="rect">
            <a:avLst/>
          </a:prstGeom>
        </p:spPr>
      </p:pic>
    </p:spTree>
    <p:extLst>
      <p:ext uri="{BB962C8B-B14F-4D97-AF65-F5344CB8AC3E}">
        <p14:creationId xmlns:p14="http://schemas.microsoft.com/office/powerpoint/2010/main" val="1746520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34DAF-F207-3061-24D6-6AFF552418DC}"/>
              </a:ext>
            </a:extLst>
          </p:cNvPr>
          <p:cNvSpPr>
            <a:spLocks noGrp="1"/>
          </p:cNvSpPr>
          <p:nvPr>
            <p:ph type="title"/>
          </p:nvPr>
        </p:nvSpPr>
        <p:spPr>
          <a:xfrm>
            <a:off x="841247" y="363178"/>
            <a:ext cx="4759452" cy="557784"/>
          </a:xfrm>
        </p:spPr>
        <p:txBody>
          <a:bodyPr/>
          <a:lstStyle/>
          <a:p>
            <a:pPr>
              <a:lnSpc>
                <a:spcPct val="150000"/>
              </a:lnSpc>
            </a:pPr>
            <a:r>
              <a:rPr lang="en-US" dirty="0"/>
              <a:t>To answer our business question, I analyzed four years of sales data looking for recurring patterns.</a:t>
            </a:r>
            <a:br>
              <a:rPr lang="en-US" dirty="0"/>
            </a:br>
            <a:endParaRPr lang="en-US" dirty="0"/>
          </a:p>
        </p:txBody>
      </p:sp>
      <p:sp>
        <p:nvSpPr>
          <p:cNvPr id="5" name="Content Placeholder 4">
            <a:extLst>
              <a:ext uri="{FF2B5EF4-FFF2-40B4-BE49-F238E27FC236}">
                <a16:creationId xmlns:a16="http://schemas.microsoft.com/office/drawing/2014/main" id="{8A94AC61-4F6E-98E2-D42B-F2114BBA120D}"/>
              </a:ext>
            </a:extLst>
          </p:cNvPr>
          <p:cNvSpPr>
            <a:spLocks noGrp="1"/>
          </p:cNvSpPr>
          <p:nvPr>
            <p:ph sz="quarter" idx="13"/>
          </p:nvPr>
        </p:nvSpPr>
        <p:spPr>
          <a:xfrm>
            <a:off x="841247" y="2003401"/>
            <a:ext cx="6556375" cy="4479925"/>
          </a:xfrm>
        </p:spPr>
        <p:txBody>
          <a:bodyPr/>
          <a:lstStyle/>
          <a:p>
            <a:pPr marL="0" indent="0">
              <a:buNone/>
            </a:pPr>
            <a:endParaRPr lang="en-US" dirty="0"/>
          </a:p>
          <a:p>
            <a:pPr marL="0" indent="0">
              <a:buNone/>
            </a:pPr>
            <a:r>
              <a:rPr lang="en-US" dirty="0"/>
              <a:t>• Sales trends over time</a:t>
            </a:r>
          </a:p>
          <a:p>
            <a:pPr marL="0" indent="0">
              <a:buNone/>
            </a:pPr>
            <a:r>
              <a:rPr lang="en-US" dirty="0"/>
              <a:t>• Highest-performing categories</a:t>
            </a:r>
          </a:p>
          <a:p>
            <a:pPr marL="0" indent="0">
              <a:buNone/>
            </a:pPr>
            <a:r>
              <a:rPr lang="en-US" dirty="0"/>
              <a:t>• Strongest and weakest states</a:t>
            </a:r>
          </a:p>
          <a:p>
            <a:pPr marL="0" indent="0">
              <a:buNone/>
            </a:pPr>
            <a:r>
              <a:rPr lang="en-US" dirty="0"/>
              <a:t>• Top-selling books</a:t>
            </a:r>
          </a:p>
          <a:p>
            <a:pPr marL="0" indent="0">
              <a:buNone/>
            </a:pPr>
            <a:r>
              <a:rPr lang="en-US" dirty="0"/>
              <a:t>• Opportunities within the South region</a:t>
            </a:r>
          </a:p>
          <a:p>
            <a:endParaRPr lang="en-US" dirty="0"/>
          </a:p>
        </p:txBody>
      </p:sp>
      <p:sp>
        <p:nvSpPr>
          <p:cNvPr id="4" name="Slide Number Placeholder 3">
            <a:extLst>
              <a:ext uri="{FF2B5EF4-FFF2-40B4-BE49-F238E27FC236}">
                <a16:creationId xmlns:a16="http://schemas.microsoft.com/office/drawing/2014/main" id="{D04F9477-0E09-541A-1BEE-18EAF43FE06E}"/>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4</a:t>
            </a:fld>
            <a:endParaRPr lang="en-US" dirty="0"/>
          </a:p>
        </p:txBody>
      </p:sp>
      <p:pic>
        <p:nvPicPr>
          <p:cNvPr id="6" name="Graphic 5" descr="Race Flag with solid fill">
            <a:extLst>
              <a:ext uri="{FF2B5EF4-FFF2-40B4-BE49-F238E27FC236}">
                <a16:creationId xmlns:a16="http://schemas.microsoft.com/office/drawing/2014/main" id="{3F9F3947-5C16-5872-8B49-7F3CD80A7C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8" name="Graphic 7" descr="Lights On with solid fill">
            <a:extLst>
              <a:ext uri="{FF2B5EF4-FFF2-40B4-BE49-F238E27FC236}">
                <a16:creationId xmlns:a16="http://schemas.microsoft.com/office/drawing/2014/main" id="{989FD0CD-9E13-594B-2FA1-47379C56CC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1049" y="6483327"/>
            <a:ext cx="360235" cy="360235"/>
          </a:xfrm>
          <a:prstGeom prst="rect">
            <a:avLst/>
          </a:prstGeom>
        </p:spPr>
      </p:pic>
      <p:pic>
        <p:nvPicPr>
          <p:cNvPr id="10" name="Graphic 9" descr="Pin with solid fill">
            <a:extLst>
              <a:ext uri="{FF2B5EF4-FFF2-40B4-BE49-F238E27FC236}">
                <a16:creationId xmlns:a16="http://schemas.microsoft.com/office/drawing/2014/main" id="{72EC4589-78B5-1A41-5362-9D181F54822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7353" y="649776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D726141F-D93B-548F-CEBC-AEAAA1F364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6459" y="6497765"/>
            <a:ext cx="360235" cy="360235"/>
          </a:xfrm>
          <a:prstGeom prst="rect">
            <a:avLst/>
          </a:prstGeom>
        </p:spPr>
      </p:pic>
      <p:pic>
        <p:nvPicPr>
          <p:cNvPr id="14" name="Graphic 13" descr="Tools with solid fill">
            <a:extLst>
              <a:ext uri="{FF2B5EF4-FFF2-40B4-BE49-F238E27FC236}">
                <a16:creationId xmlns:a16="http://schemas.microsoft.com/office/drawing/2014/main" id="{E571A110-95B3-B4EC-7FF1-B0C546CB41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3657" y="6497765"/>
            <a:ext cx="360235" cy="360235"/>
          </a:xfrm>
          <a:prstGeom prst="rect">
            <a:avLst/>
          </a:prstGeom>
        </p:spPr>
      </p:pic>
      <p:pic>
        <p:nvPicPr>
          <p:cNvPr id="16" name="Graphic 15" descr="Left Brain with solid fill">
            <a:extLst>
              <a:ext uri="{FF2B5EF4-FFF2-40B4-BE49-F238E27FC236}">
                <a16:creationId xmlns:a16="http://schemas.microsoft.com/office/drawing/2014/main" id="{FD4A7BAE-D7AB-ED63-5EA6-F068D8C4BA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1012" y="6483327"/>
            <a:ext cx="360235" cy="360235"/>
          </a:xfrm>
          <a:prstGeom prst="rect">
            <a:avLst/>
          </a:prstGeom>
        </p:spPr>
      </p:pic>
      <p:pic>
        <p:nvPicPr>
          <p:cNvPr id="18" name="Graphic 17" descr="Magnifying glass with solid fill">
            <a:extLst>
              <a:ext uri="{FF2B5EF4-FFF2-40B4-BE49-F238E27FC236}">
                <a16:creationId xmlns:a16="http://schemas.microsoft.com/office/drawing/2014/main" id="{C0A3144D-2321-6618-D62A-55420844B2D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3688475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CB087B-CB5E-35C5-3AD8-D1A6E1AF8260}"/>
              </a:ext>
            </a:extLst>
          </p:cNvPr>
          <p:cNvSpPr>
            <a:spLocks noGrp="1"/>
          </p:cNvSpPr>
          <p:nvPr>
            <p:ph type="title"/>
          </p:nvPr>
        </p:nvSpPr>
        <p:spPr>
          <a:xfrm>
            <a:off x="841248" y="1202226"/>
            <a:ext cx="10479024" cy="557784"/>
          </a:xfrm>
        </p:spPr>
        <p:txBody>
          <a:bodyPr/>
          <a:lstStyle/>
          <a:p>
            <a:r>
              <a:rPr lang="en-US" dirty="0"/>
              <a:t>What Did We Expect to Find?</a:t>
            </a:r>
            <a:br>
              <a:rPr lang="en-US" dirty="0"/>
            </a:br>
            <a:endParaRPr lang="en-US" dirty="0"/>
          </a:p>
        </p:txBody>
      </p:sp>
      <p:sp>
        <p:nvSpPr>
          <p:cNvPr id="4" name="Text Placeholder 3">
            <a:extLst>
              <a:ext uri="{FF2B5EF4-FFF2-40B4-BE49-F238E27FC236}">
                <a16:creationId xmlns:a16="http://schemas.microsoft.com/office/drawing/2014/main" id="{DA26DA25-1172-208C-2C26-5E3AF67E11D5}"/>
              </a:ext>
            </a:extLst>
          </p:cNvPr>
          <p:cNvSpPr>
            <a:spLocks noGrp="1"/>
          </p:cNvSpPr>
          <p:nvPr>
            <p:ph type="body" sz="quarter" idx="10"/>
          </p:nvPr>
        </p:nvSpPr>
        <p:spPr>
          <a:xfrm>
            <a:off x="841248" y="2089404"/>
            <a:ext cx="10479024" cy="2679192"/>
          </a:xfrm>
        </p:spPr>
        <p:txBody>
          <a:bodyPr/>
          <a:lstStyle/>
          <a:p>
            <a:r>
              <a:rPr lang="en-US" dirty="0"/>
              <a:t>Initial </a:t>
            </a:r>
          </a:p>
          <a:p>
            <a:r>
              <a:rPr lang="en-US" dirty="0"/>
              <a:t>Hypotheses</a:t>
            </a:r>
          </a:p>
        </p:txBody>
      </p:sp>
      <p:pic>
        <p:nvPicPr>
          <p:cNvPr id="5" name="Graphic 4" descr="Race Flag with solid fill">
            <a:extLst>
              <a:ext uri="{FF2B5EF4-FFF2-40B4-BE49-F238E27FC236}">
                <a16:creationId xmlns:a16="http://schemas.microsoft.com/office/drawing/2014/main" id="{27593277-8BE9-CDB3-FE0D-D503D1EF577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7" name="Graphic 6" descr="Lights On with solid fill">
            <a:extLst>
              <a:ext uri="{FF2B5EF4-FFF2-40B4-BE49-F238E27FC236}">
                <a16:creationId xmlns:a16="http://schemas.microsoft.com/office/drawing/2014/main" id="{E309FC67-2013-6DC0-0C70-8DAAD03A62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1049" y="6483327"/>
            <a:ext cx="360235" cy="360235"/>
          </a:xfrm>
          <a:prstGeom prst="rect">
            <a:avLst/>
          </a:prstGeom>
        </p:spPr>
      </p:pic>
      <p:pic>
        <p:nvPicPr>
          <p:cNvPr id="10" name="Graphic 9" descr="Pin with solid fill">
            <a:extLst>
              <a:ext uri="{FF2B5EF4-FFF2-40B4-BE49-F238E27FC236}">
                <a16:creationId xmlns:a16="http://schemas.microsoft.com/office/drawing/2014/main" id="{7E15DF67-A4DF-3DB1-C6E3-44D2BB4F5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7353" y="649776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8C55B059-CD62-B343-C404-EAD70A236B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6459" y="6497765"/>
            <a:ext cx="360235" cy="360235"/>
          </a:xfrm>
          <a:prstGeom prst="rect">
            <a:avLst/>
          </a:prstGeom>
        </p:spPr>
      </p:pic>
      <p:pic>
        <p:nvPicPr>
          <p:cNvPr id="14" name="Graphic 13" descr="Tools with solid fill">
            <a:extLst>
              <a:ext uri="{FF2B5EF4-FFF2-40B4-BE49-F238E27FC236}">
                <a16:creationId xmlns:a16="http://schemas.microsoft.com/office/drawing/2014/main" id="{F3959C9B-CEC6-95E5-5E78-1D1643A6EF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3657" y="6497765"/>
            <a:ext cx="360235" cy="360235"/>
          </a:xfrm>
          <a:prstGeom prst="rect">
            <a:avLst/>
          </a:prstGeom>
        </p:spPr>
      </p:pic>
      <p:pic>
        <p:nvPicPr>
          <p:cNvPr id="16" name="Graphic 15" descr="Left Brain with solid fill">
            <a:extLst>
              <a:ext uri="{FF2B5EF4-FFF2-40B4-BE49-F238E27FC236}">
                <a16:creationId xmlns:a16="http://schemas.microsoft.com/office/drawing/2014/main" id="{4E0C3D57-FE05-578A-0177-AD650876F96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23135" y="1430615"/>
            <a:ext cx="4586137" cy="4586137"/>
          </a:xfrm>
          <a:prstGeom prst="rect">
            <a:avLst/>
          </a:prstGeom>
        </p:spPr>
      </p:pic>
      <p:pic>
        <p:nvPicPr>
          <p:cNvPr id="18" name="Graphic 17" descr="Magnifying glass with solid fill">
            <a:extLst>
              <a:ext uri="{FF2B5EF4-FFF2-40B4-BE49-F238E27FC236}">
                <a16:creationId xmlns:a16="http://schemas.microsoft.com/office/drawing/2014/main" id="{D4CEFF6E-2635-30EE-1B0F-1A063D6F164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1709180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D1FD-9CC8-4CB0-8247-CFAB90695FE8}"/>
              </a:ext>
            </a:extLst>
          </p:cNvPr>
          <p:cNvSpPr>
            <a:spLocks noGrp="1"/>
          </p:cNvSpPr>
          <p:nvPr>
            <p:ph type="title"/>
          </p:nvPr>
        </p:nvSpPr>
        <p:spPr>
          <a:xfrm>
            <a:off x="558219" y="343690"/>
            <a:ext cx="2473452" cy="301752"/>
          </a:xfrm>
        </p:spPr>
        <p:txBody>
          <a:bodyPr/>
          <a:lstStyle/>
          <a:p>
            <a:pPr algn="ctr"/>
            <a:r>
              <a:rPr lang="en-US" i="1" dirty="0"/>
              <a:t>Predictions Timeline</a:t>
            </a:r>
            <a:endParaRPr lang="en-US" dirty="0"/>
          </a:p>
        </p:txBody>
      </p:sp>
      <p:sp>
        <p:nvSpPr>
          <p:cNvPr id="5" name="Content Placeholder 4">
            <a:extLst>
              <a:ext uri="{FF2B5EF4-FFF2-40B4-BE49-F238E27FC236}">
                <a16:creationId xmlns:a16="http://schemas.microsoft.com/office/drawing/2014/main" id="{CCAD0987-D595-9D33-A24C-ED016A62A8BD}"/>
              </a:ext>
            </a:extLst>
          </p:cNvPr>
          <p:cNvSpPr>
            <a:spLocks noGrp="1"/>
          </p:cNvSpPr>
          <p:nvPr>
            <p:ph sz="quarter" idx="13"/>
          </p:nvPr>
        </p:nvSpPr>
        <p:spPr>
          <a:xfrm>
            <a:off x="2711329" y="5241820"/>
            <a:ext cx="3579491" cy="1104683"/>
          </a:xfrm>
        </p:spPr>
        <p:txBody>
          <a:bodyPr>
            <a:normAutofit/>
          </a:bodyPr>
          <a:lstStyle/>
          <a:p>
            <a:pPr marL="0" indent="0" algn="ctr">
              <a:buNone/>
            </a:pPr>
            <a:r>
              <a:rPr lang="en-US" dirty="0"/>
              <a:t>Students begin preparing for finals and summer courses, increasing purchases of textbooks and technology </a:t>
            </a:r>
          </a:p>
        </p:txBody>
      </p:sp>
      <p:graphicFrame>
        <p:nvGraphicFramePr>
          <p:cNvPr id="7" name="Content Placeholder 6" descr="A timeline of the product launch">
            <a:extLst>
              <a:ext uri="{FF2B5EF4-FFF2-40B4-BE49-F238E27FC236}">
                <a16:creationId xmlns:a16="http://schemas.microsoft.com/office/drawing/2014/main" id="{7C6232C6-2D10-0E10-D9E1-9A3759D68BAF}"/>
              </a:ext>
            </a:extLst>
          </p:cNvPr>
          <p:cNvGraphicFramePr>
            <a:graphicFrameLocks noGrp="1"/>
          </p:cNvGraphicFramePr>
          <p:nvPr>
            <p:ph sz="quarter" idx="14"/>
            <p:extLst>
              <p:ext uri="{D42A27DB-BD31-4B8C-83A1-F6EECF244321}">
                <p14:modId xmlns:p14="http://schemas.microsoft.com/office/powerpoint/2010/main" val="3338693708"/>
              </p:ext>
            </p:extLst>
          </p:nvPr>
        </p:nvGraphicFramePr>
        <p:xfrm>
          <a:off x="395801" y="1815718"/>
          <a:ext cx="10443650" cy="3768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FE7814C5-5D60-0866-7B45-798BC7C8D1CB}"/>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6</a:t>
            </a:fld>
            <a:endParaRPr lang="en-US" dirty="0"/>
          </a:p>
        </p:txBody>
      </p:sp>
      <p:pic>
        <p:nvPicPr>
          <p:cNvPr id="6" name="Graphic 5" descr="Race Flag with solid fill">
            <a:extLst>
              <a:ext uri="{FF2B5EF4-FFF2-40B4-BE49-F238E27FC236}">
                <a16:creationId xmlns:a16="http://schemas.microsoft.com/office/drawing/2014/main" id="{75213AB5-6CF2-3FCC-D350-2E7D8872E02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9F7C8DC5-33DA-F381-EA72-8838B6CBF0A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CB931AB7-A632-6341-04C8-892E5FC2DC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353" y="6497765"/>
            <a:ext cx="360235" cy="360235"/>
          </a:xfrm>
          <a:prstGeom prst="rect">
            <a:avLst/>
          </a:prstGeom>
        </p:spPr>
      </p:pic>
      <p:pic>
        <p:nvPicPr>
          <p:cNvPr id="14" name="Graphic 13" descr="Bar graph with upward trend with solid fill">
            <a:extLst>
              <a:ext uri="{FF2B5EF4-FFF2-40B4-BE49-F238E27FC236}">
                <a16:creationId xmlns:a16="http://schemas.microsoft.com/office/drawing/2014/main" id="{1EBDBDB4-BE8B-9F20-E3A9-849860931F1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6459" y="6497765"/>
            <a:ext cx="360235" cy="360235"/>
          </a:xfrm>
          <a:prstGeom prst="rect">
            <a:avLst/>
          </a:prstGeom>
        </p:spPr>
      </p:pic>
      <p:pic>
        <p:nvPicPr>
          <p:cNvPr id="16" name="Graphic 15" descr="Tools with solid fill">
            <a:extLst>
              <a:ext uri="{FF2B5EF4-FFF2-40B4-BE49-F238E27FC236}">
                <a16:creationId xmlns:a16="http://schemas.microsoft.com/office/drawing/2014/main" id="{50BE79DE-D975-BAF1-3B73-05C6D82211E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73657" y="6497765"/>
            <a:ext cx="360235" cy="360235"/>
          </a:xfrm>
          <a:prstGeom prst="rect">
            <a:avLst/>
          </a:prstGeom>
        </p:spPr>
      </p:pic>
      <p:pic>
        <p:nvPicPr>
          <p:cNvPr id="18" name="Graphic 17" descr="Left Brain with solid fill">
            <a:extLst>
              <a:ext uri="{FF2B5EF4-FFF2-40B4-BE49-F238E27FC236}">
                <a16:creationId xmlns:a16="http://schemas.microsoft.com/office/drawing/2014/main" id="{802C626A-5D7F-70E7-7AE2-75773BB7775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1012" y="6483327"/>
            <a:ext cx="360235" cy="360235"/>
          </a:xfrm>
          <a:prstGeom prst="rect">
            <a:avLst/>
          </a:prstGeom>
        </p:spPr>
      </p:pic>
      <p:pic>
        <p:nvPicPr>
          <p:cNvPr id="20" name="Graphic 19" descr="Magnifying glass with solid fill">
            <a:extLst>
              <a:ext uri="{FF2B5EF4-FFF2-40B4-BE49-F238E27FC236}">
                <a16:creationId xmlns:a16="http://schemas.microsoft.com/office/drawing/2014/main" id="{CE37DE07-80DC-A296-D1A4-CB7A4945EE1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65" y="6497765"/>
            <a:ext cx="360235" cy="360235"/>
          </a:xfrm>
          <a:prstGeom prst="rect">
            <a:avLst/>
          </a:prstGeom>
        </p:spPr>
      </p:pic>
      <p:sp>
        <p:nvSpPr>
          <p:cNvPr id="21" name="Content Placeholder 4">
            <a:extLst>
              <a:ext uri="{FF2B5EF4-FFF2-40B4-BE49-F238E27FC236}">
                <a16:creationId xmlns:a16="http://schemas.microsoft.com/office/drawing/2014/main" id="{685D7D0F-2E4F-2371-88F4-1A32CD53B5B4}"/>
              </a:ext>
            </a:extLst>
          </p:cNvPr>
          <p:cNvSpPr txBox="1">
            <a:spLocks/>
          </p:cNvSpPr>
          <p:nvPr/>
        </p:nvSpPr>
        <p:spPr>
          <a:xfrm>
            <a:off x="4973960" y="1479358"/>
            <a:ext cx="3579491" cy="972907"/>
          </a:xfrm>
          <a:prstGeom prst="rect">
            <a:avLst/>
          </a:prstGeom>
        </p:spPr>
        <p:txBody>
          <a:bodyPr vert="horz" lIns="0" tIns="0" rIns="0" bIns="0" rtlCol="0">
            <a:normAutofit fontScale="925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Students return to school, creating increased demand for educational books and technology products</a:t>
            </a:r>
          </a:p>
        </p:txBody>
      </p:sp>
      <p:sp>
        <p:nvSpPr>
          <p:cNvPr id="22" name="Content Placeholder 4">
            <a:extLst>
              <a:ext uri="{FF2B5EF4-FFF2-40B4-BE49-F238E27FC236}">
                <a16:creationId xmlns:a16="http://schemas.microsoft.com/office/drawing/2014/main" id="{3F6C0D9B-6FD8-8681-48EE-3FDEECBDBCC4}"/>
              </a:ext>
            </a:extLst>
          </p:cNvPr>
          <p:cNvSpPr txBox="1">
            <a:spLocks/>
          </p:cNvSpPr>
          <p:nvPr/>
        </p:nvSpPr>
        <p:spPr>
          <a:xfrm>
            <a:off x="7259960" y="5307707"/>
            <a:ext cx="3579491" cy="972907"/>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Holiday shopping and promotional events create the year's largest sales spike</a:t>
            </a:r>
          </a:p>
        </p:txBody>
      </p:sp>
      <p:sp>
        <p:nvSpPr>
          <p:cNvPr id="23" name="Content Placeholder 4">
            <a:extLst>
              <a:ext uri="{FF2B5EF4-FFF2-40B4-BE49-F238E27FC236}">
                <a16:creationId xmlns:a16="http://schemas.microsoft.com/office/drawing/2014/main" id="{497C57D8-56EC-4351-0CD8-34BE4EE0B045}"/>
              </a:ext>
            </a:extLst>
          </p:cNvPr>
          <p:cNvSpPr txBox="1">
            <a:spLocks/>
          </p:cNvSpPr>
          <p:nvPr/>
        </p:nvSpPr>
        <p:spPr>
          <a:xfrm>
            <a:off x="471303" y="1479358"/>
            <a:ext cx="3579492" cy="672718"/>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Sales decline after the holidays as consumer spending slows</a:t>
            </a:r>
          </a:p>
        </p:txBody>
      </p:sp>
      <p:sp>
        <p:nvSpPr>
          <p:cNvPr id="33" name="Rectangle 32">
            <a:extLst>
              <a:ext uri="{FF2B5EF4-FFF2-40B4-BE49-F238E27FC236}">
                <a16:creationId xmlns:a16="http://schemas.microsoft.com/office/drawing/2014/main" id="{9CBD4B31-7B21-3266-33CA-DAA33FA14A90}"/>
              </a:ext>
            </a:extLst>
          </p:cNvPr>
          <p:cNvSpPr/>
          <p:nvPr/>
        </p:nvSpPr>
        <p:spPr>
          <a:xfrm>
            <a:off x="1286694" y="248843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5" name="Rectangle 34">
            <a:extLst>
              <a:ext uri="{FF2B5EF4-FFF2-40B4-BE49-F238E27FC236}">
                <a16:creationId xmlns:a16="http://schemas.microsoft.com/office/drawing/2014/main" id="{77E4D8AD-4107-4B22-477C-9D98462375CD}"/>
              </a:ext>
            </a:extLst>
          </p:cNvPr>
          <p:cNvSpPr/>
          <p:nvPr/>
        </p:nvSpPr>
        <p:spPr>
          <a:xfrm>
            <a:off x="3535077"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7" name="Rectangle 36">
            <a:extLst>
              <a:ext uri="{FF2B5EF4-FFF2-40B4-BE49-F238E27FC236}">
                <a16:creationId xmlns:a16="http://schemas.microsoft.com/office/drawing/2014/main" id="{B6ADE1D3-546C-B003-D6FB-B0E361D1ED8F}"/>
              </a:ext>
            </a:extLst>
          </p:cNvPr>
          <p:cNvSpPr/>
          <p:nvPr/>
        </p:nvSpPr>
        <p:spPr>
          <a:xfrm>
            <a:off x="5632870" y="2488435"/>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9" name="Rectangle 38">
            <a:extLst>
              <a:ext uri="{FF2B5EF4-FFF2-40B4-BE49-F238E27FC236}">
                <a16:creationId xmlns:a16="http://schemas.microsoft.com/office/drawing/2014/main" id="{DEC7A558-E415-0837-D11C-DA49EC02F6BF}"/>
              </a:ext>
            </a:extLst>
          </p:cNvPr>
          <p:cNvSpPr/>
          <p:nvPr/>
        </p:nvSpPr>
        <p:spPr>
          <a:xfrm>
            <a:off x="7922190"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1" name="Rectangle 40">
            <a:extLst>
              <a:ext uri="{FF2B5EF4-FFF2-40B4-BE49-F238E27FC236}">
                <a16:creationId xmlns:a16="http://schemas.microsoft.com/office/drawing/2014/main" id="{AD1081EF-97BF-0352-DDF6-37259984F703}"/>
              </a:ext>
            </a:extLst>
          </p:cNvPr>
          <p:cNvSpPr/>
          <p:nvPr/>
        </p:nvSpPr>
        <p:spPr>
          <a:xfrm>
            <a:off x="1475169" y="3840177"/>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3" name="Rectangle 42">
            <a:extLst>
              <a:ext uri="{FF2B5EF4-FFF2-40B4-BE49-F238E27FC236}">
                <a16:creationId xmlns:a16="http://schemas.microsoft.com/office/drawing/2014/main" id="{CEE3B1C2-BF9A-EFB3-DAF6-BDE0CAE4557E}"/>
              </a:ext>
            </a:extLst>
          </p:cNvPr>
          <p:cNvSpPr/>
          <p:nvPr/>
        </p:nvSpPr>
        <p:spPr>
          <a:xfrm>
            <a:off x="3535077" y="3252537"/>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5" name="Rectangle 44">
            <a:extLst>
              <a:ext uri="{FF2B5EF4-FFF2-40B4-BE49-F238E27FC236}">
                <a16:creationId xmlns:a16="http://schemas.microsoft.com/office/drawing/2014/main" id="{3565C943-CBF6-EBC2-336E-C7AD3041F40C}"/>
              </a:ext>
            </a:extLst>
          </p:cNvPr>
          <p:cNvSpPr/>
          <p:nvPr/>
        </p:nvSpPr>
        <p:spPr>
          <a:xfrm>
            <a:off x="5870385" y="3832184"/>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7" name="Rectangle 46">
            <a:extLst>
              <a:ext uri="{FF2B5EF4-FFF2-40B4-BE49-F238E27FC236}">
                <a16:creationId xmlns:a16="http://schemas.microsoft.com/office/drawing/2014/main" id="{F09F8BE0-2E97-B77B-B3EE-4E0887FA5B5D}"/>
              </a:ext>
            </a:extLst>
          </p:cNvPr>
          <p:cNvSpPr/>
          <p:nvPr/>
        </p:nvSpPr>
        <p:spPr>
          <a:xfrm>
            <a:off x="8083708" y="3252536"/>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9" name="Rectangle 48">
            <a:extLst>
              <a:ext uri="{FF2B5EF4-FFF2-40B4-BE49-F238E27FC236}">
                <a16:creationId xmlns:a16="http://schemas.microsoft.com/office/drawing/2014/main" id="{82C988BE-A584-B307-E313-66F81D94EB83}"/>
              </a:ext>
            </a:extLst>
          </p:cNvPr>
          <p:cNvSpPr/>
          <p:nvPr/>
        </p:nvSpPr>
        <p:spPr>
          <a:xfrm>
            <a:off x="7259960" y="5205896"/>
            <a:ext cx="3487194" cy="981812"/>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1" name="Rectangle 50">
            <a:extLst>
              <a:ext uri="{FF2B5EF4-FFF2-40B4-BE49-F238E27FC236}">
                <a16:creationId xmlns:a16="http://schemas.microsoft.com/office/drawing/2014/main" id="{40ADCB85-27E7-96FF-0F5A-CD80D1897500}"/>
              </a:ext>
            </a:extLst>
          </p:cNvPr>
          <p:cNvSpPr/>
          <p:nvPr/>
        </p:nvSpPr>
        <p:spPr>
          <a:xfrm>
            <a:off x="2593566" y="5163652"/>
            <a:ext cx="4005301" cy="1182851"/>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3" name="Rectangle 52">
            <a:extLst>
              <a:ext uri="{FF2B5EF4-FFF2-40B4-BE49-F238E27FC236}">
                <a16:creationId xmlns:a16="http://schemas.microsoft.com/office/drawing/2014/main" id="{81DDC1C7-C8DF-3646-3FA0-707A56AFAB65}"/>
              </a:ext>
            </a:extLst>
          </p:cNvPr>
          <p:cNvSpPr/>
          <p:nvPr/>
        </p:nvSpPr>
        <p:spPr>
          <a:xfrm>
            <a:off x="4596216" y="1321148"/>
            <a:ext cx="4163736" cy="95284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5" name="Rectangle 54">
            <a:extLst>
              <a:ext uri="{FF2B5EF4-FFF2-40B4-BE49-F238E27FC236}">
                <a16:creationId xmlns:a16="http://schemas.microsoft.com/office/drawing/2014/main" id="{023B4CF3-C203-0D6C-31CA-E0ABF3235D77}"/>
              </a:ext>
            </a:extLst>
          </p:cNvPr>
          <p:cNvSpPr/>
          <p:nvPr/>
        </p:nvSpPr>
        <p:spPr>
          <a:xfrm>
            <a:off x="557290" y="1382301"/>
            <a:ext cx="3402061" cy="699960"/>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89773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a:extLst>
            <a:ext uri="{FF2B5EF4-FFF2-40B4-BE49-F238E27FC236}">
              <a16:creationId xmlns:a16="http://schemas.microsoft.com/office/drawing/2014/main" id="{6760FB54-A277-8253-2B3E-E84532B2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DCD46-21D6-9C9D-0689-7A03D2210013}"/>
              </a:ext>
            </a:extLst>
          </p:cNvPr>
          <p:cNvSpPr>
            <a:spLocks noGrp="1"/>
          </p:cNvSpPr>
          <p:nvPr>
            <p:ph type="title"/>
          </p:nvPr>
        </p:nvSpPr>
        <p:spPr>
          <a:xfrm>
            <a:off x="558219" y="343690"/>
            <a:ext cx="2473452" cy="301752"/>
          </a:xfrm>
        </p:spPr>
        <p:txBody>
          <a:bodyPr/>
          <a:lstStyle/>
          <a:p>
            <a:pPr algn="ctr"/>
            <a:r>
              <a:rPr lang="en-US" i="1" dirty="0"/>
              <a:t>Predictions Timeline</a:t>
            </a:r>
            <a:endParaRPr lang="en-US" dirty="0"/>
          </a:p>
        </p:txBody>
      </p:sp>
      <p:sp>
        <p:nvSpPr>
          <p:cNvPr id="5" name="Content Placeholder 4">
            <a:extLst>
              <a:ext uri="{FF2B5EF4-FFF2-40B4-BE49-F238E27FC236}">
                <a16:creationId xmlns:a16="http://schemas.microsoft.com/office/drawing/2014/main" id="{2C7A6A30-F4AB-0464-E4B1-97BFB167E781}"/>
              </a:ext>
            </a:extLst>
          </p:cNvPr>
          <p:cNvSpPr>
            <a:spLocks noGrp="1"/>
          </p:cNvSpPr>
          <p:nvPr>
            <p:ph sz="quarter" idx="13"/>
          </p:nvPr>
        </p:nvSpPr>
        <p:spPr>
          <a:xfrm>
            <a:off x="2711329" y="5241820"/>
            <a:ext cx="3579491" cy="1104683"/>
          </a:xfrm>
        </p:spPr>
        <p:txBody>
          <a:bodyPr>
            <a:normAutofit/>
          </a:bodyPr>
          <a:lstStyle/>
          <a:p>
            <a:pPr marL="0" indent="0" algn="ctr">
              <a:buNone/>
            </a:pPr>
            <a:r>
              <a:rPr lang="en-US" dirty="0"/>
              <a:t>Students begin preparing for finals and summer courses, increasing purchases of textbooks and technology </a:t>
            </a:r>
          </a:p>
        </p:txBody>
      </p:sp>
      <p:graphicFrame>
        <p:nvGraphicFramePr>
          <p:cNvPr id="7" name="Content Placeholder 6" descr="A timeline of the product launch">
            <a:extLst>
              <a:ext uri="{FF2B5EF4-FFF2-40B4-BE49-F238E27FC236}">
                <a16:creationId xmlns:a16="http://schemas.microsoft.com/office/drawing/2014/main" id="{81781936-C437-4933-B35B-FF6BEA4B3FDC}"/>
              </a:ext>
            </a:extLst>
          </p:cNvPr>
          <p:cNvGraphicFramePr>
            <a:graphicFrameLocks noGrp="1"/>
          </p:cNvGraphicFramePr>
          <p:nvPr>
            <p:ph sz="quarter" idx="14"/>
          </p:nvPr>
        </p:nvGraphicFramePr>
        <p:xfrm>
          <a:off x="395801" y="1815718"/>
          <a:ext cx="10443650" cy="3768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D0468DC-6E8E-8B7E-F6AF-BFC989119295}"/>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7</a:t>
            </a:fld>
            <a:endParaRPr lang="en-US" dirty="0"/>
          </a:p>
        </p:txBody>
      </p:sp>
      <p:pic>
        <p:nvPicPr>
          <p:cNvPr id="6" name="Graphic 5" descr="Race Flag with solid fill">
            <a:extLst>
              <a:ext uri="{FF2B5EF4-FFF2-40B4-BE49-F238E27FC236}">
                <a16:creationId xmlns:a16="http://schemas.microsoft.com/office/drawing/2014/main" id="{208F76FC-4A84-1F6C-F9CE-848EAFBF0A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BE981732-AAA5-EAD9-5B34-1F08A5621A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CF5AC2D1-4E0D-687C-E743-1D9ABBA08B6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353" y="6497765"/>
            <a:ext cx="360235" cy="360235"/>
          </a:xfrm>
          <a:prstGeom prst="rect">
            <a:avLst/>
          </a:prstGeom>
        </p:spPr>
      </p:pic>
      <p:pic>
        <p:nvPicPr>
          <p:cNvPr id="14" name="Graphic 13" descr="Bar graph with upward trend with solid fill">
            <a:extLst>
              <a:ext uri="{FF2B5EF4-FFF2-40B4-BE49-F238E27FC236}">
                <a16:creationId xmlns:a16="http://schemas.microsoft.com/office/drawing/2014/main" id="{551B3B22-87D2-3436-6161-5A4B7EAA712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6459" y="6497765"/>
            <a:ext cx="360235" cy="360235"/>
          </a:xfrm>
          <a:prstGeom prst="rect">
            <a:avLst/>
          </a:prstGeom>
        </p:spPr>
      </p:pic>
      <p:pic>
        <p:nvPicPr>
          <p:cNvPr id="16" name="Graphic 15" descr="Tools with solid fill">
            <a:extLst>
              <a:ext uri="{FF2B5EF4-FFF2-40B4-BE49-F238E27FC236}">
                <a16:creationId xmlns:a16="http://schemas.microsoft.com/office/drawing/2014/main" id="{0BA822A3-5789-2ACE-4370-128C32430D4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73657" y="6497765"/>
            <a:ext cx="360235" cy="360235"/>
          </a:xfrm>
          <a:prstGeom prst="rect">
            <a:avLst/>
          </a:prstGeom>
        </p:spPr>
      </p:pic>
      <p:pic>
        <p:nvPicPr>
          <p:cNvPr id="18" name="Graphic 17" descr="Left Brain with solid fill">
            <a:extLst>
              <a:ext uri="{FF2B5EF4-FFF2-40B4-BE49-F238E27FC236}">
                <a16:creationId xmlns:a16="http://schemas.microsoft.com/office/drawing/2014/main" id="{5165FC36-4A2F-D75A-5D15-3B1DD9D0744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1012" y="6483327"/>
            <a:ext cx="360235" cy="360235"/>
          </a:xfrm>
          <a:prstGeom prst="rect">
            <a:avLst/>
          </a:prstGeom>
        </p:spPr>
      </p:pic>
      <p:pic>
        <p:nvPicPr>
          <p:cNvPr id="20" name="Graphic 19" descr="Magnifying glass with solid fill">
            <a:extLst>
              <a:ext uri="{FF2B5EF4-FFF2-40B4-BE49-F238E27FC236}">
                <a16:creationId xmlns:a16="http://schemas.microsoft.com/office/drawing/2014/main" id="{69DC4051-8878-39C8-A8A3-7CACBD7EAD2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65" y="6497765"/>
            <a:ext cx="360235" cy="360235"/>
          </a:xfrm>
          <a:prstGeom prst="rect">
            <a:avLst/>
          </a:prstGeom>
        </p:spPr>
      </p:pic>
      <p:sp>
        <p:nvSpPr>
          <p:cNvPr id="21" name="Content Placeholder 4">
            <a:extLst>
              <a:ext uri="{FF2B5EF4-FFF2-40B4-BE49-F238E27FC236}">
                <a16:creationId xmlns:a16="http://schemas.microsoft.com/office/drawing/2014/main" id="{E5119813-EA98-F990-FDF2-DFF51C124E18}"/>
              </a:ext>
            </a:extLst>
          </p:cNvPr>
          <p:cNvSpPr txBox="1">
            <a:spLocks/>
          </p:cNvSpPr>
          <p:nvPr/>
        </p:nvSpPr>
        <p:spPr>
          <a:xfrm>
            <a:off x="4973960" y="1479358"/>
            <a:ext cx="3579491" cy="972907"/>
          </a:xfrm>
          <a:prstGeom prst="rect">
            <a:avLst/>
          </a:prstGeom>
        </p:spPr>
        <p:txBody>
          <a:bodyPr vert="horz" lIns="0" tIns="0" rIns="0" bIns="0" rtlCol="0">
            <a:normAutofit fontScale="925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Students return to school, creating increased demand for educational books and technology products</a:t>
            </a:r>
          </a:p>
        </p:txBody>
      </p:sp>
      <p:sp>
        <p:nvSpPr>
          <p:cNvPr id="22" name="Content Placeholder 4">
            <a:extLst>
              <a:ext uri="{FF2B5EF4-FFF2-40B4-BE49-F238E27FC236}">
                <a16:creationId xmlns:a16="http://schemas.microsoft.com/office/drawing/2014/main" id="{A9A09CA4-6C1A-BB1E-A97C-490A30DA7DFA}"/>
              </a:ext>
            </a:extLst>
          </p:cNvPr>
          <p:cNvSpPr txBox="1">
            <a:spLocks/>
          </p:cNvSpPr>
          <p:nvPr/>
        </p:nvSpPr>
        <p:spPr>
          <a:xfrm>
            <a:off x="7259960" y="5307707"/>
            <a:ext cx="3579491" cy="972907"/>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Holiday shopping and promotional events create the year's largest sales spike</a:t>
            </a:r>
          </a:p>
        </p:txBody>
      </p:sp>
      <p:sp>
        <p:nvSpPr>
          <p:cNvPr id="23" name="Content Placeholder 4">
            <a:extLst>
              <a:ext uri="{FF2B5EF4-FFF2-40B4-BE49-F238E27FC236}">
                <a16:creationId xmlns:a16="http://schemas.microsoft.com/office/drawing/2014/main" id="{618238E9-9937-0914-029D-83D0436C80AD}"/>
              </a:ext>
            </a:extLst>
          </p:cNvPr>
          <p:cNvSpPr txBox="1">
            <a:spLocks/>
          </p:cNvSpPr>
          <p:nvPr/>
        </p:nvSpPr>
        <p:spPr>
          <a:xfrm>
            <a:off x="471303" y="1479358"/>
            <a:ext cx="3579492" cy="672718"/>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Sales decline after the holidays as consumer spending slows</a:t>
            </a:r>
          </a:p>
        </p:txBody>
      </p:sp>
      <p:sp>
        <p:nvSpPr>
          <p:cNvPr id="35" name="Rectangle 34">
            <a:extLst>
              <a:ext uri="{FF2B5EF4-FFF2-40B4-BE49-F238E27FC236}">
                <a16:creationId xmlns:a16="http://schemas.microsoft.com/office/drawing/2014/main" id="{C9B45346-7044-9860-D4BB-A562BC2B1EC8}"/>
              </a:ext>
            </a:extLst>
          </p:cNvPr>
          <p:cNvSpPr/>
          <p:nvPr/>
        </p:nvSpPr>
        <p:spPr>
          <a:xfrm>
            <a:off x="3535077"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7" name="Rectangle 36">
            <a:extLst>
              <a:ext uri="{FF2B5EF4-FFF2-40B4-BE49-F238E27FC236}">
                <a16:creationId xmlns:a16="http://schemas.microsoft.com/office/drawing/2014/main" id="{1E86A69E-32A1-41FC-9A75-A8D6DA18E382}"/>
              </a:ext>
            </a:extLst>
          </p:cNvPr>
          <p:cNvSpPr/>
          <p:nvPr/>
        </p:nvSpPr>
        <p:spPr>
          <a:xfrm>
            <a:off x="5632870" y="2488435"/>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9" name="Rectangle 38">
            <a:extLst>
              <a:ext uri="{FF2B5EF4-FFF2-40B4-BE49-F238E27FC236}">
                <a16:creationId xmlns:a16="http://schemas.microsoft.com/office/drawing/2014/main" id="{509A4564-B68C-4DD4-DACE-99DA95A826C9}"/>
              </a:ext>
            </a:extLst>
          </p:cNvPr>
          <p:cNvSpPr/>
          <p:nvPr/>
        </p:nvSpPr>
        <p:spPr>
          <a:xfrm>
            <a:off x="7922190"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3" name="Rectangle 42">
            <a:extLst>
              <a:ext uri="{FF2B5EF4-FFF2-40B4-BE49-F238E27FC236}">
                <a16:creationId xmlns:a16="http://schemas.microsoft.com/office/drawing/2014/main" id="{6A7B1A74-3849-BCA3-8644-51998C3BC6FE}"/>
              </a:ext>
            </a:extLst>
          </p:cNvPr>
          <p:cNvSpPr/>
          <p:nvPr/>
        </p:nvSpPr>
        <p:spPr>
          <a:xfrm>
            <a:off x="3535077" y="3252537"/>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5" name="Rectangle 44">
            <a:extLst>
              <a:ext uri="{FF2B5EF4-FFF2-40B4-BE49-F238E27FC236}">
                <a16:creationId xmlns:a16="http://schemas.microsoft.com/office/drawing/2014/main" id="{A2759ED5-D1B5-AC29-1106-732D85006090}"/>
              </a:ext>
            </a:extLst>
          </p:cNvPr>
          <p:cNvSpPr/>
          <p:nvPr/>
        </p:nvSpPr>
        <p:spPr>
          <a:xfrm>
            <a:off x="5870385" y="3832184"/>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7" name="Rectangle 46">
            <a:extLst>
              <a:ext uri="{FF2B5EF4-FFF2-40B4-BE49-F238E27FC236}">
                <a16:creationId xmlns:a16="http://schemas.microsoft.com/office/drawing/2014/main" id="{1F43118B-B681-207B-9BA1-804F846771E0}"/>
              </a:ext>
            </a:extLst>
          </p:cNvPr>
          <p:cNvSpPr/>
          <p:nvPr/>
        </p:nvSpPr>
        <p:spPr>
          <a:xfrm>
            <a:off x="8083708" y="3252536"/>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9" name="Rectangle 48">
            <a:extLst>
              <a:ext uri="{FF2B5EF4-FFF2-40B4-BE49-F238E27FC236}">
                <a16:creationId xmlns:a16="http://schemas.microsoft.com/office/drawing/2014/main" id="{ED8BB7D3-74B3-3AF0-AD5D-D8EB04DDEF88}"/>
              </a:ext>
            </a:extLst>
          </p:cNvPr>
          <p:cNvSpPr/>
          <p:nvPr/>
        </p:nvSpPr>
        <p:spPr>
          <a:xfrm>
            <a:off x="7259960" y="5205896"/>
            <a:ext cx="3487194" cy="981812"/>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1" name="Rectangle 50">
            <a:extLst>
              <a:ext uri="{FF2B5EF4-FFF2-40B4-BE49-F238E27FC236}">
                <a16:creationId xmlns:a16="http://schemas.microsoft.com/office/drawing/2014/main" id="{380960F7-6DD8-C185-48AF-DF451BE00035}"/>
              </a:ext>
            </a:extLst>
          </p:cNvPr>
          <p:cNvSpPr/>
          <p:nvPr/>
        </p:nvSpPr>
        <p:spPr>
          <a:xfrm>
            <a:off x="2593566" y="5163652"/>
            <a:ext cx="4005301" cy="1182851"/>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3" name="Rectangle 52">
            <a:extLst>
              <a:ext uri="{FF2B5EF4-FFF2-40B4-BE49-F238E27FC236}">
                <a16:creationId xmlns:a16="http://schemas.microsoft.com/office/drawing/2014/main" id="{8B2F554A-6F43-78D8-F145-FDE0DA5A8513}"/>
              </a:ext>
            </a:extLst>
          </p:cNvPr>
          <p:cNvSpPr/>
          <p:nvPr/>
        </p:nvSpPr>
        <p:spPr>
          <a:xfrm>
            <a:off x="4596216" y="1321148"/>
            <a:ext cx="4163736" cy="95284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637834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a:extLst>
            <a:ext uri="{FF2B5EF4-FFF2-40B4-BE49-F238E27FC236}">
              <a16:creationId xmlns:a16="http://schemas.microsoft.com/office/drawing/2014/main" id="{8F7744DD-7743-B1AC-4626-960B22B77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7828D-3D2C-1231-E542-294860085308}"/>
              </a:ext>
            </a:extLst>
          </p:cNvPr>
          <p:cNvSpPr>
            <a:spLocks noGrp="1"/>
          </p:cNvSpPr>
          <p:nvPr>
            <p:ph type="title"/>
          </p:nvPr>
        </p:nvSpPr>
        <p:spPr>
          <a:xfrm>
            <a:off x="558219" y="343690"/>
            <a:ext cx="2473452" cy="301752"/>
          </a:xfrm>
        </p:spPr>
        <p:txBody>
          <a:bodyPr/>
          <a:lstStyle/>
          <a:p>
            <a:pPr algn="ctr"/>
            <a:r>
              <a:rPr lang="en-US" i="1" dirty="0"/>
              <a:t>Predictions Timeline</a:t>
            </a:r>
            <a:endParaRPr lang="en-US" dirty="0"/>
          </a:p>
        </p:txBody>
      </p:sp>
      <p:sp>
        <p:nvSpPr>
          <p:cNvPr id="5" name="Content Placeholder 4">
            <a:extLst>
              <a:ext uri="{FF2B5EF4-FFF2-40B4-BE49-F238E27FC236}">
                <a16:creationId xmlns:a16="http://schemas.microsoft.com/office/drawing/2014/main" id="{72C1A809-D9B4-52BE-47C1-483C507E843D}"/>
              </a:ext>
            </a:extLst>
          </p:cNvPr>
          <p:cNvSpPr>
            <a:spLocks noGrp="1"/>
          </p:cNvSpPr>
          <p:nvPr>
            <p:ph sz="quarter" idx="13"/>
          </p:nvPr>
        </p:nvSpPr>
        <p:spPr>
          <a:xfrm>
            <a:off x="2711329" y="5241820"/>
            <a:ext cx="3579491" cy="1104683"/>
          </a:xfrm>
        </p:spPr>
        <p:txBody>
          <a:bodyPr>
            <a:normAutofit/>
          </a:bodyPr>
          <a:lstStyle/>
          <a:p>
            <a:pPr marL="0" indent="0" algn="ctr">
              <a:buNone/>
            </a:pPr>
            <a:r>
              <a:rPr lang="en-US" dirty="0"/>
              <a:t>Students begin preparing for finals and summer courses, increasing purchases of textbooks and technology </a:t>
            </a:r>
          </a:p>
        </p:txBody>
      </p:sp>
      <p:graphicFrame>
        <p:nvGraphicFramePr>
          <p:cNvPr id="7" name="Content Placeholder 6" descr="A timeline of the product launch">
            <a:extLst>
              <a:ext uri="{FF2B5EF4-FFF2-40B4-BE49-F238E27FC236}">
                <a16:creationId xmlns:a16="http://schemas.microsoft.com/office/drawing/2014/main" id="{820CBB97-02C4-0528-2D6C-3E68D612069D}"/>
              </a:ext>
            </a:extLst>
          </p:cNvPr>
          <p:cNvGraphicFramePr>
            <a:graphicFrameLocks noGrp="1"/>
          </p:cNvGraphicFramePr>
          <p:nvPr>
            <p:ph sz="quarter" idx="14"/>
          </p:nvPr>
        </p:nvGraphicFramePr>
        <p:xfrm>
          <a:off x="395801" y="1815718"/>
          <a:ext cx="10443650" cy="3768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145720A7-BEFE-AD17-FD95-46DAACABA6CD}"/>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8</a:t>
            </a:fld>
            <a:endParaRPr lang="en-US" dirty="0"/>
          </a:p>
        </p:txBody>
      </p:sp>
      <p:pic>
        <p:nvPicPr>
          <p:cNvPr id="6" name="Graphic 5" descr="Race Flag with solid fill">
            <a:extLst>
              <a:ext uri="{FF2B5EF4-FFF2-40B4-BE49-F238E27FC236}">
                <a16:creationId xmlns:a16="http://schemas.microsoft.com/office/drawing/2014/main" id="{4324F250-C95B-73A4-B151-9BFE791D94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F8CD727F-DE22-DDF7-C0CF-DD7CCA4459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67F17514-93E1-63DA-5CC1-08747CEC326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353" y="6497765"/>
            <a:ext cx="360235" cy="360235"/>
          </a:xfrm>
          <a:prstGeom prst="rect">
            <a:avLst/>
          </a:prstGeom>
        </p:spPr>
      </p:pic>
      <p:pic>
        <p:nvPicPr>
          <p:cNvPr id="14" name="Graphic 13" descr="Bar graph with upward trend with solid fill">
            <a:extLst>
              <a:ext uri="{FF2B5EF4-FFF2-40B4-BE49-F238E27FC236}">
                <a16:creationId xmlns:a16="http://schemas.microsoft.com/office/drawing/2014/main" id="{23795471-9412-909D-1883-5A38DA02AC8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6459" y="6497765"/>
            <a:ext cx="360235" cy="360235"/>
          </a:xfrm>
          <a:prstGeom prst="rect">
            <a:avLst/>
          </a:prstGeom>
        </p:spPr>
      </p:pic>
      <p:pic>
        <p:nvPicPr>
          <p:cNvPr id="16" name="Graphic 15" descr="Tools with solid fill">
            <a:extLst>
              <a:ext uri="{FF2B5EF4-FFF2-40B4-BE49-F238E27FC236}">
                <a16:creationId xmlns:a16="http://schemas.microsoft.com/office/drawing/2014/main" id="{95FFE1E9-D5DA-9B38-9316-CFA64E6C687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73657" y="6497765"/>
            <a:ext cx="360235" cy="360235"/>
          </a:xfrm>
          <a:prstGeom prst="rect">
            <a:avLst/>
          </a:prstGeom>
        </p:spPr>
      </p:pic>
      <p:pic>
        <p:nvPicPr>
          <p:cNvPr id="18" name="Graphic 17" descr="Left Brain with solid fill">
            <a:extLst>
              <a:ext uri="{FF2B5EF4-FFF2-40B4-BE49-F238E27FC236}">
                <a16:creationId xmlns:a16="http://schemas.microsoft.com/office/drawing/2014/main" id="{7A0AA0A3-5658-9D93-32A7-D7F0A6A993D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1012" y="6483327"/>
            <a:ext cx="360235" cy="360235"/>
          </a:xfrm>
          <a:prstGeom prst="rect">
            <a:avLst/>
          </a:prstGeom>
        </p:spPr>
      </p:pic>
      <p:pic>
        <p:nvPicPr>
          <p:cNvPr id="20" name="Graphic 19" descr="Magnifying glass with solid fill">
            <a:extLst>
              <a:ext uri="{FF2B5EF4-FFF2-40B4-BE49-F238E27FC236}">
                <a16:creationId xmlns:a16="http://schemas.microsoft.com/office/drawing/2014/main" id="{DE9B0D49-2022-970D-FD21-D70132611B3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65" y="6497765"/>
            <a:ext cx="360235" cy="360235"/>
          </a:xfrm>
          <a:prstGeom prst="rect">
            <a:avLst/>
          </a:prstGeom>
        </p:spPr>
      </p:pic>
      <p:sp>
        <p:nvSpPr>
          <p:cNvPr id="21" name="Content Placeholder 4">
            <a:extLst>
              <a:ext uri="{FF2B5EF4-FFF2-40B4-BE49-F238E27FC236}">
                <a16:creationId xmlns:a16="http://schemas.microsoft.com/office/drawing/2014/main" id="{D44E07BC-980F-7C16-6375-3947A6E8BBE9}"/>
              </a:ext>
            </a:extLst>
          </p:cNvPr>
          <p:cNvSpPr txBox="1">
            <a:spLocks/>
          </p:cNvSpPr>
          <p:nvPr/>
        </p:nvSpPr>
        <p:spPr>
          <a:xfrm>
            <a:off x="4973960" y="1479358"/>
            <a:ext cx="3579491" cy="972907"/>
          </a:xfrm>
          <a:prstGeom prst="rect">
            <a:avLst/>
          </a:prstGeom>
        </p:spPr>
        <p:txBody>
          <a:bodyPr vert="horz" lIns="0" tIns="0" rIns="0" bIns="0" rtlCol="0">
            <a:normAutofit fontScale="925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Students return to school, creating increased demand for educational books and technology products</a:t>
            </a:r>
          </a:p>
        </p:txBody>
      </p:sp>
      <p:sp>
        <p:nvSpPr>
          <p:cNvPr id="22" name="Content Placeholder 4">
            <a:extLst>
              <a:ext uri="{FF2B5EF4-FFF2-40B4-BE49-F238E27FC236}">
                <a16:creationId xmlns:a16="http://schemas.microsoft.com/office/drawing/2014/main" id="{E2043D44-9E78-EA3B-1E9A-7D6DEEDA09AF}"/>
              </a:ext>
            </a:extLst>
          </p:cNvPr>
          <p:cNvSpPr txBox="1">
            <a:spLocks/>
          </p:cNvSpPr>
          <p:nvPr/>
        </p:nvSpPr>
        <p:spPr>
          <a:xfrm>
            <a:off x="7259960" y="5307707"/>
            <a:ext cx="3579491" cy="972907"/>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Holiday shopping and promotional events create the year's largest sales spike</a:t>
            </a:r>
          </a:p>
        </p:txBody>
      </p:sp>
      <p:sp>
        <p:nvSpPr>
          <p:cNvPr id="23" name="Content Placeholder 4">
            <a:extLst>
              <a:ext uri="{FF2B5EF4-FFF2-40B4-BE49-F238E27FC236}">
                <a16:creationId xmlns:a16="http://schemas.microsoft.com/office/drawing/2014/main" id="{8154BCE1-A3B2-F8BC-D3EE-0B71FEAB8D97}"/>
              </a:ext>
            </a:extLst>
          </p:cNvPr>
          <p:cNvSpPr txBox="1">
            <a:spLocks/>
          </p:cNvSpPr>
          <p:nvPr/>
        </p:nvSpPr>
        <p:spPr>
          <a:xfrm>
            <a:off x="471303" y="1479358"/>
            <a:ext cx="3579492" cy="672718"/>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Sales decline after the holidays as consumer spending slows</a:t>
            </a:r>
          </a:p>
        </p:txBody>
      </p:sp>
      <p:sp>
        <p:nvSpPr>
          <p:cNvPr id="37" name="Rectangle 36">
            <a:extLst>
              <a:ext uri="{FF2B5EF4-FFF2-40B4-BE49-F238E27FC236}">
                <a16:creationId xmlns:a16="http://schemas.microsoft.com/office/drawing/2014/main" id="{8AB76DEE-FB02-CEEF-D644-8ADE4BBB865F}"/>
              </a:ext>
            </a:extLst>
          </p:cNvPr>
          <p:cNvSpPr/>
          <p:nvPr/>
        </p:nvSpPr>
        <p:spPr>
          <a:xfrm>
            <a:off x="5632870" y="2488435"/>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9" name="Rectangle 38">
            <a:extLst>
              <a:ext uri="{FF2B5EF4-FFF2-40B4-BE49-F238E27FC236}">
                <a16:creationId xmlns:a16="http://schemas.microsoft.com/office/drawing/2014/main" id="{2C032B8C-38B9-659C-B9BA-6F749D2A098C}"/>
              </a:ext>
            </a:extLst>
          </p:cNvPr>
          <p:cNvSpPr/>
          <p:nvPr/>
        </p:nvSpPr>
        <p:spPr>
          <a:xfrm>
            <a:off x="7922190"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5" name="Rectangle 44">
            <a:extLst>
              <a:ext uri="{FF2B5EF4-FFF2-40B4-BE49-F238E27FC236}">
                <a16:creationId xmlns:a16="http://schemas.microsoft.com/office/drawing/2014/main" id="{EEDB8C5C-B09A-8B89-20C9-3469974EF0DC}"/>
              </a:ext>
            </a:extLst>
          </p:cNvPr>
          <p:cNvSpPr/>
          <p:nvPr/>
        </p:nvSpPr>
        <p:spPr>
          <a:xfrm>
            <a:off x="5870385" y="3832184"/>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7" name="Rectangle 46">
            <a:extLst>
              <a:ext uri="{FF2B5EF4-FFF2-40B4-BE49-F238E27FC236}">
                <a16:creationId xmlns:a16="http://schemas.microsoft.com/office/drawing/2014/main" id="{673226EE-5E35-76B2-F23E-4017017BAFB2}"/>
              </a:ext>
            </a:extLst>
          </p:cNvPr>
          <p:cNvSpPr/>
          <p:nvPr/>
        </p:nvSpPr>
        <p:spPr>
          <a:xfrm>
            <a:off x="8083708" y="3252536"/>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9" name="Rectangle 48">
            <a:extLst>
              <a:ext uri="{FF2B5EF4-FFF2-40B4-BE49-F238E27FC236}">
                <a16:creationId xmlns:a16="http://schemas.microsoft.com/office/drawing/2014/main" id="{F408FDED-3ADF-C028-2263-E5895E9E33FD}"/>
              </a:ext>
            </a:extLst>
          </p:cNvPr>
          <p:cNvSpPr/>
          <p:nvPr/>
        </p:nvSpPr>
        <p:spPr>
          <a:xfrm>
            <a:off x="7259960" y="5205896"/>
            <a:ext cx="3487194" cy="981812"/>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3" name="Rectangle 52">
            <a:extLst>
              <a:ext uri="{FF2B5EF4-FFF2-40B4-BE49-F238E27FC236}">
                <a16:creationId xmlns:a16="http://schemas.microsoft.com/office/drawing/2014/main" id="{6E23A128-03D8-82CB-7F9E-193A2EF33FEA}"/>
              </a:ext>
            </a:extLst>
          </p:cNvPr>
          <p:cNvSpPr/>
          <p:nvPr/>
        </p:nvSpPr>
        <p:spPr>
          <a:xfrm>
            <a:off x="4596216" y="1321148"/>
            <a:ext cx="4163736" cy="972907"/>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16587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a:extLst>
            <a:ext uri="{FF2B5EF4-FFF2-40B4-BE49-F238E27FC236}">
              <a16:creationId xmlns:a16="http://schemas.microsoft.com/office/drawing/2014/main" id="{A16B2B1E-D5AA-A65E-8FEA-601DEA0F6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13609-24D4-CB7E-00FF-4870034B5EE6}"/>
              </a:ext>
            </a:extLst>
          </p:cNvPr>
          <p:cNvSpPr>
            <a:spLocks noGrp="1"/>
          </p:cNvSpPr>
          <p:nvPr>
            <p:ph type="title"/>
          </p:nvPr>
        </p:nvSpPr>
        <p:spPr>
          <a:xfrm>
            <a:off x="558219" y="343690"/>
            <a:ext cx="2473452" cy="301752"/>
          </a:xfrm>
        </p:spPr>
        <p:txBody>
          <a:bodyPr/>
          <a:lstStyle/>
          <a:p>
            <a:pPr algn="ctr"/>
            <a:r>
              <a:rPr lang="en-US" i="1" dirty="0"/>
              <a:t>Predictions Timeline</a:t>
            </a:r>
            <a:endParaRPr lang="en-US" dirty="0"/>
          </a:p>
        </p:txBody>
      </p:sp>
      <p:sp>
        <p:nvSpPr>
          <p:cNvPr id="5" name="Content Placeholder 4">
            <a:extLst>
              <a:ext uri="{FF2B5EF4-FFF2-40B4-BE49-F238E27FC236}">
                <a16:creationId xmlns:a16="http://schemas.microsoft.com/office/drawing/2014/main" id="{BD62A053-B868-69B2-D6F6-B3F9474C5040}"/>
              </a:ext>
            </a:extLst>
          </p:cNvPr>
          <p:cNvSpPr>
            <a:spLocks noGrp="1"/>
          </p:cNvSpPr>
          <p:nvPr>
            <p:ph sz="quarter" idx="13"/>
          </p:nvPr>
        </p:nvSpPr>
        <p:spPr>
          <a:xfrm>
            <a:off x="2711329" y="5241820"/>
            <a:ext cx="3579491" cy="1104683"/>
          </a:xfrm>
        </p:spPr>
        <p:txBody>
          <a:bodyPr>
            <a:normAutofit/>
          </a:bodyPr>
          <a:lstStyle/>
          <a:p>
            <a:pPr marL="0" indent="0" algn="ctr">
              <a:buNone/>
            </a:pPr>
            <a:r>
              <a:rPr lang="en-US" dirty="0"/>
              <a:t>Students begin preparing for finals and summer courses, increasing purchases of textbooks and technology </a:t>
            </a:r>
          </a:p>
        </p:txBody>
      </p:sp>
      <p:graphicFrame>
        <p:nvGraphicFramePr>
          <p:cNvPr id="7" name="Content Placeholder 6" descr="A timeline of the product launch">
            <a:extLst>
              <a:ext uri="{FF2B5EF4-FFF2-40B4-BE49-F238E27FC236}">
                <a16:creationId xmlns:a16="http://schemas.microsoft.com/office/drawing/2014/main" id="{A5D9EA53-AE87-B95A-A3E7-462353BF2B2F}"/>
              </a:ext>
            </a:extLst>
          </p:cNvPr>
          <p:cNvGraphicFramePr>
            <a:graphicFrameLocks noGrp="1"/>
          </p:cNvGraphicFramePr>
          <p:nvPr>
            <p:ph sz="quarter" idx="14"/>
          </p:nvPr>
        </p:nvGraphicFramePr>
        <p:xfrm>
          <a:off x="395801" y="1815718"/>
          <a:ext cx="10443650" cy="3768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64E3A906-1F53-FDC9-EF49-FC22668862C6}"/>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9</a:t>
            </a:fld>
            <a:endParaRPr lang="en-US" dirty="0"/>
          </a:p>
        </p:txBody>
      </p:sp>
      <p:pic>
        <p:nvPicPr>
          <p:cNvPr id="6" name="Graphic 5" descr="Race Flag with solid fill">
            <a:extLst>
              <a:ext uri="{FF2B5EF4-FFF2-40B4-BE49-F238E27FC236}">
                <a16:creationId xmlns:a16="http://schemas.microsoft.com/office/drawing/2014/main" id="{8D3AFAC9-F576-0CCD-0E39-7A3FE03EDCB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4692B60F-1FEC-2073-2462-DB57881076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D4B8E3F2-9FF3-9CCE-BB76-CFF188A695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353" y="6497765"/>
            <a:ext cx="360235" cy="360235"/>
          </a:xfrm>
          <a:prstGeom prst="rect">
            <a:avLst/>
          </a:prstGeom>
        </p:spPr>
      </p:pic>
      <p:pic>
        <p:nvPicPr>
          <p:cNvPr id="14" name="Graphic 13" descr="Bar graph with upward trend with solid fill">
            <a:extLst>
              <a:ext uri="{FF2B5EF4-FFF2-40B4-BE49-F238E27FC236}">
                <a16:creationId xmlns:a16="http://schemas.microsoft.com/office/drawing/2014/main" id="{FC0B7FE4-1161-0F38-9F64-6435502B7C8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6459" y="6497765"/>
            <a:ext cx="360235" cy="360235"/>
          </a:xfrm>
          <a:prstGeom prst="rect">
            <a:avLst/>
          </a:prstGeom>
        </p:spPr>
      </p:pic>
      <p:pic>
        <p:nvPicPr>
          <p:cNvPr id="16" name="Graphic 15" descr="Tools with solid fill">
            <a:extLst>
              <a:ext uri="{FF2B5EF4-FFF2-40B4-BE49-F238E27FC236}">
                <a16:creationId xmlns:a16="http://schemas.microsoft.com/office/drawing/2014/main" id="{4557C2C2-D83B-38D7-A342-6EC2047C9CB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73657" y="6497765"/>
            <a:ext cx="360235" cy="360235"/>
          </a:xfrm>
          <a:prstGeom prst="rect">
            <a:avLst/>
          </a:prstGeom>
        </p:spPr>
      </p:pic>
      <p:pic>
        <p:nvPicPr>
          <p:cNvPr id="18" name="Graphic 17" descr="Left Brain with solid fill">
            <a:extLst>
              <a:ext uri="{FF2B5EF4-FFF2-40B4-BE49-F238E27FC236}">
                <a16:creationId xmlns:a16="http://schemas.microsoft.com/office/drawing/2014/main" id="{9D902B8A-58F3-0B6E-C524-5CCEAA33B76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1012" y="6483327"/>
            <a:ext cx="360235" cy="360235"/>
          </a:xfrm>
          <a:prstGeom prst="rect">
            <a:avLst/>
          </a:prstGeom>
        </p:spPr>
      </p:pic>
      <p:pic>
        <p:nvPicPr>
          <p:cNvPr id="20" name="Graphic 19" descr="Magnifying glass with solid fill">
            <a:extLst>
              <a:ext uri="{FF2B5EF4-FFF2-40B4-BE49-F238E27FC236}">
                <a16:creationId xmlns:a16="http://schemas.microsoft.com/office/drawing/2014/main" id="{6EA7B8F9-AE0B-03CC-0644-6EFFBA0BB10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65" y="6497765"/>
            <a:ext cx="360235" cy="360235"/>
          </a:xfrm>
          <a:prstGeom prst="rect">
            <a:avLst/>
          </a:prstGeom>
        </p:spPr>
      </p:pic>
      <p:sp>
        <p:nvSpPr>
          <p:cNvPr id="21" name="Content Placeholder 4">
            <a:extLst>
              <a:ext uri="{FF2B5EF4-FFF2-40B4-BE49-F238E27FC236}">
                <a16:creationId xmlns:a16="http://schemas.microsoft.com/office/drawing/2014/main" id="{478D3AD5-4F1B-6570-C1EE-C4A7C84ADA7A}"/>
              </a:ext>
            </a:extLst>
          </p:cNvPr>
          <p:cNvSpPr txBox="1">
            <a:spLocks/>
          </p:cNvSpPr>
          <p:nvPr/>
        </p:nvSpPr>
        <p:spPr>
          <a:xfrm>
            <a:off x="4973960" y="1479358"/>
            <a:ext cx="3579491" cy="972907"/>
          </a:xfrm>
          <a:prstGeom prst="rect">
            <a:avLst/>
          </a:prstGeom>
        </p:spPr>
        <p:txBody>
          <a:bodyPr vert="horz" lIns="0" tIns="0" rIns="0" bIns="0" rtlCol="0">
            <a:normAutofit fontScale="925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Students return to school, creating increased demand for educational books and technology products</a:t>
            </a:r>
          </a:p>
        </p:txBody>
      </p:sp>
      <p:sp>
        <p:nvSpPr>
          <p:cNvPr id="22" name="Content Placeholder 4">
            <a:extLst>
              <a:ext uri="{FF2B5EF4-FFF2-40B4-BE49-F238E27FC236}">
                <a16:creationId xmlns:a16="http://schemas.microsoft.com/office/drawing/2014/main" id="{6718C122-0E19-D00F-9BE3-2C248A17C89A}"/>
              </a:ext>
            </a:extLst>
          </p:cNvPr>
          <p:cNvSpPr txBox="1">
            <a:spLocks/>
          </p:cNvSpPr>
          <p:nvPr/>
        </p:nvSpPr>
        <p:spPr>
          <a:xfrm>
            <a:off x="7259960" y="5307707"/>
            <a:ext cx="3579491" cy="972907"/>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Holiday shopping and promotional events create the year's largest sales spike</a:t>
            </a:r>
          </a:p>
        </p:txBody>
      </p:sp>
      <p:sp>
        <p:nvSpPr>
          <p:cNvPr id="23" name="Content Placeholder 4">
            <a:extLst>
              <a:ext uri="{FF2B5EF4-FFF2-40B4-BE49-F238E27FC236}">
                <a16:creationId xmlns:a16="http://schemas.microsoft.com/office/drawing/2014/main" id="{FC2B0674-999A-D6A7-B7CF-A1F5ED18DB95}"/>
              </a:ext>
            </a:extLst>
          </p:cNvPr>
          <p:cNvSpPr txBox="1">
            <a:spLocks/>
          </p:cNvSpPr>
          <p:nvPr/>
        </p:nvSpPr>
        <p:spPr>
          <a:xfrm>
            <a:off x="471303" y="1479358"/>
            <a:ext cx="3579492" cy="672718"/>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Sales decline after the holidays as consumer spending slows</a:t>
            </a:r>
          </a:p>
        </p:txBody>
      </p:sp>
      <p:sp>
        <p:nvSpPr>
          <p:cNvPr id="39" name="Rectangle 38">
            <a:extLst>
              <a:ext uri="{FF2B5EF4-FFF2-40B4-BE49-F238E27FC236}">
                <a16:creationId xmlns:a16="http://schemas.microsoft.com/office/drawing/2014/main" id="{E5BDB00B-DC55-658D-A15F-C5719521F332}"/>
              </a:ext>
            </a:extLst>
          </p:cNvPr>
          <p:cNvSpPr/>
          <p:nvPr/>
        </p:nvSpPr>
        <p:spPr>
          <a:xfrm>
            <a:off x="7922190" y="4559256"/>
            <a:ext cx="1931994" cy="352925"/>
          </a:xfrm>
          <a:prstGeom prst="rect">
            <a:avLst/>
          </a:prstGeom>
          <a:solidFill>
            <a:srgbClr val="C5DCF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7" name="Rectangle 46">
            <a:extLst>
              <a:ext uri="{FF2B5EF4-FFF2-40B4-BE49-F238E27FC236}">
                <a16:creationId xmlns:a16="http://schemas.microsoft.com/office/drawing/2014/main" id="{B3E126A4-5472-31A9-63FC-EDD26185C784}"/>
              </a:ext>
            </a:extLst>
          </p:cNvPr>
          <p:cNvSpPr/>
          <p:nvPr/>
        </p:nvSpPr>
        <p:spPr>
          <a:xfrm>
            <a:off x="8083708" y="3252536"/>
            <a:ext cx="1931994" cy="352925"/>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9" name="Rectangle 48">
            <a:extLst>
              <a:ext uri="{FF2B5EF4-FFF2-40B4-BE49-F238E27FC236}">
                <a16:creationId xmlns:a16="http://schemas.microsoft.com/office/drawing/2014/main" id="{2450DDD7-5499-C441-FAAD-847E3DADE50E}"/>
              </a:ext>
            </a:extLst>
          </p:cNvPr>
          <p:cNvSpPr/>
          <p:nvPr/>
        </p:nvSpPr>
        <p:spPr>
          <a:xfrm>
            <a:off x="7259960" y="5205896"/>
            <a:ext cx="3487194" cy="981812"/>
          </a:xfrm>
          <a:prstGeom prst="rect">
            <a:avLst/>
          </a:prstGeom>
          <a:solidFill>
            <a:srgbClr val="55B6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2911586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a:extLst>
            <a:ext uri="{FF2B5EF4-FFF2-40B4-BE49-F238E27FC236}">
              <a16:creationId xmlns:a16="http://schemas.microsoft.com/office/drawing/2014/main" id="{7571BE63-139D-B81D-F1A1-3A31EEB9C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1F79D-7C3D-CB59-D62C-4497D24108D4}"/>
              </a:ext>
            </a:extLst>
          </p:cNvPr>
          <p:cNvSpPr>
            <a:spLocks noGrp="1"/>
          </p:cNvSpPr>
          <p:nvPr>
            <p:ph type="title"/>
          </p:nvPr>
        </p:nvSpPr>
        <p:spPr>
          <a:xfrm>
            <a:off x="558219" y="343690"/>
            <a:ext cx="2473452" cy="301752"/>
          </a:xfrm>
        </p:spPr>
        <p:txBody>
          <a:bodyPr/>
          <a:lstStyle/>
          <a:p>
            <a:pPr algn="ctr"/>
            <a:r>
              <a:rPr lang="en-US" i="1" dirty="0"/>
              <a:t>Predictions Timeline</a:t>
            </a:r>
            <a:endParaRPr lang="en-US" dirty="0"/>
          </a:p>
        </p:txBody>
      </p:sp>
      <p:sp>
        <p:nvSpPr>
          <p:cNvPr id="5" name="Content Placeholder 4">
            <a:extLst>
              <a:ext uri="{FF2B5EF4-FFF2-40B4-BE49-F238E27FC236}">
                <a16:creationId xmlns:a16="http://schemas.microsoft.com/office/drawing/2014/main" id="{4EC82318-DA28-E28D-24ED-C141764F9861}"/>
              </a:ext>
            </a:extLst>
          </p:cNvPr>
          <p:cNvSpPr>
            <a:spLocks noGrp="1"/>
          </p:cNvSpPr>
          <p:nvPr>
            <p:ph sz="quarter" idx="13"/>
          </p:nvPr>
        </p:nvSpPr>
        <p:spPr>
          <a:xfrm>
            <a:off x="2711329" y="5241820"/>
            <a:ext cx="3579491" cy="1104683"/>
          </a:xfrm>
        </p:spPr>
        <p:txBody>
          <a:bodyPr>
            <a:normAutofit/>
          </a:bodyPr>
          <a:lstStyle/>
          <a:p>
            <a:pPr marL="0" indent="0" algn="ctr">
              <a:buNone/>
            </a:pPr>
            <a:r>
              <a:rPr lang="en-US" dirty="0"/>
              <a:t>Students begin preparing for finals and summer courses, increasing purchases of textbooks and technology </a:t>
            </a:r>
          </a:p>
        </p:txBody>
      </p:sp>
      <p:graphicFrame>
        <p:nvGraphicFramePr>
          <p:cNvPr id="7" name="Content Placeholder 6" descr="A timeline of the product launch">
            <a:extLst>
              <a:ext uri="{FF2B5EF4-FFF2-40B4-BE49-F238E27FC236}">
                <a16:creationId xmlns:a16="http://schemas.microsoft.com/office/drawing/2014/main" id="{5DC9594B-401B-9EBF-0A42-F395AF41DE9D}"/>
              </a:ext>
            </a:extLst>
          </p:cNvPr>
          <p:cNvGraphicFramePr>
            <a:graphicFrameLocks noGrp="1"/>
          </p:cNvGraphicFramePr>
          <p:nvPr>
            <p:ph sz="quarter" idx="14"/>
          </p:nvPr>
        </p:nvGraphicFramePr>
        <p:xfrm>
          <a:off x="395801" y="1815718"/>
          <a:ext cx="10443650" cy="3768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562A5C91-26C2-2CE1-A334-8ECDD87D9086}"/>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10</a:t>
            </a:fld>
            <a:endParaRPr lang="en-US" dirty="0"/>
          </a:p>
        </p:txBody>
      </p:sp>
      <p:pic>
        <p:nvPicPr>
          <p:cNvPr id="6" name="Graphic 5" descr="Race Flag with solid fill">
            <a:extLst>
              <a:ext uri="{FF2B5EF4-FFF2-40B4-BE49-F238E27FC236}">
                <a16:creationId xmlns:a16="http://schemas.microsoft.com/office/drawing/2014/main" id="{D1C45EE1-2928-BA9F-831F-5F1FA41665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5AE4A99E-78D5-6A99-14FE-09C57AFB683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39A70B8C-0FC7-A2C6-C8FB-77B15B51476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817353" y="6497765"/>
            <a:ext cx="360235" cy="360235"/>
          </a:xfrm>
          <a:prstGeom prst="rect">
            <a:avLst/>
          </a:prstGeom>
        </p:spPr>
      </p:pic>
      <p:pic>
        <p:nvPicPr>
          <p:cNvPr id="14" name="Graphic 13" descr="Bar graph with upward trend with solid fill">
            <a:extLst>
              <a:ext uri="{FF2B5EF4-FFF2-40B4-BE49-F238E27FC236}">
                <a16:creationId xmlns:a16="http://schemas.microsoft.com/office/drawing/2014/main" id="{630BD3A0-06FC-3BE9-DCD5-1662B2C30A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6459" y="6497765"/>
            <a:ext cx="360235" cy="360235"/>
          </a:xfrm>
          <a:prstGeom prst="rect">
            <a:avLst/>
          </a:prstGeom>
        </p:spPr>
      </p:pic>
      <p:pic>
        <p:nvPicPr>
          <p:cNvPr id="16" name="Graphic 15" descr="Tools with solid fill">
            <a:extLst>
              <a:ext uri="{FF2B5EF4-FFF2-40B4-BE49-F238E27FC236}">
                <a16:creationId xmlns:a16="http://schemas.microsoft.com/office/drawing/2014/main" id="{14D1D8F3-F3DF-B2D2-ED0F-E818FEE843B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73657" y="6497765"/>
            <a:ext cx="360235" cy="360235"/>
          </a:xfrm>
          <a:prstGeom prst="rect">
            <a:avLst/>
          </a:prstGeom>
        </p:spPr>
      </p:pic>
      <p:pic>
        <p:nvPicPr>
          <p:cNvPr id="18" name="Graphic 17" descr="Left Brain with solid fill">
            <a:extLst>
              <a:ext uri="{FF2B5EF4-FFF2-40B4-BE49-F238E27FC236}">
                <a16:creationId xmlns:a16="http://schemas.microsoft.com/office/drawing/2014/main" id="{4C518E3D-3681-DDE5-31B8-46602256EE7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1012" y="6483327"/>
            <a:ext cx="360235" cy="360235"/>
          </a:xfrm>
          <a:prstGeom prst="rect">
            <a:avLst/>
          </a:prstGeom>
        </p:spPr>
      </p:pic>
      <p:pic>
        <p:nvPicPr>
          <p:cNvPr id="20" name="Graphic 19" descr="Magnifying glass with solid fill">
            <a:extLst>
              <a:ext uri="{FF2B5EF4-FFF2-40B4-BE49-F238E27FC236}">
                <a16:creationId xmlns:a16="http://schemas.microsoft.com/office/drawing/2014/main" id="{A006A863-65DE-48D2-F1AB-0E49DFC8B0C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65" y="6497765"/>
            <a:ext cx="360235" cy="360235"/>
          </a:xfrm>
          <a:prstGeom prst="rect">
            <a:avLst/>
          </a:prstGeom>
        </p:spPr>
      </p:pic>
      <p:sp>
        <p:nvSpPr>
          <p:cNvPr id="21" name="Content Placeholder 4">
            <a:extLst>
              <a:ext uri="{FF2B5EF4-FFF2-40B4-BE49-F238E27FC236}">
                <a16:creationId xmlns:a16="http://schemas.microsoft.com/office/drawing/2014/main" id="{2B90365E-8922-3CE0-FABF-A00D5DCFD0D5}"/>
              </a:ext>
            </a:extLst>
          </p:cNvPr>
          <p:cNvSpPr txBox="1">
            <a:spLocks/>
          </p:cNvSpPr>
          <p:nvPr/>
        </p:nvSpPr>
        <p:spPr>
          <a:xfrm>
            <a:off x="4973960" y="1479358"/>
            <a:ext cx="3579491" cy="972907"/>
          </a:xfrm>
          <a:prstGeom prst="rect">
            <a:avLst/>
          </a:prstGeom>
        </p:spPr>
        <p:txBody>
          <a:bodyPr vert="horz" lIns="0" tIns="0" rIns="0" bIns="0" rtlCol="0">
            <a:normAutofit fontScale="925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Students return to school, creating increased demand for educational books and technology products</a:t>
            </a:r>
          </a:p>
        </p:txBody>
      </p:sp>
      <p:sp>
        <p:nvSpPr>
          <p:cNvPr id="22" name="Content Placeholder 4">
            <a:extLst>
              <a:ext uri="{FF2B5EF4-FFF2-40B4-BE49-F238E27FC236}">
                <a16:creationId xmlns:a16="http://schemas.microsoft.com/office/drawing/2014/main" id="{06565638-F126-EAFF-88C9-E7E7D0A49760}"/>
              </a:ext>
            </a:extLst>
          </p:cNvPr>
          <p:cNvSpPr txBox="1">
            <a:spLocks/>
          </p:cNvSpPr>
          <p:nvPr/>
        </p:nvSpPr>
        <p:spPr>
          <a:xfrm>
            <a:off x="7259960" y="5307707"/>
            <a:ext cx="3579491" cy="972907"/>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Holiday shopping and promotional events create the year's largest sales spike</a:t>
            </a:r>
          </a:p>
        </p:txBody>
      </p:sp>
      <p:sp>
        <p:nvSpPr>
          <p:cNvPr id="23" name="Content Placeholder 4">
            <a:extLst>
              <a:ext uri="{FF2B5EF4-FFF2-40B4-BE49-F238E27FC236}">
                <a16:creationId xmlns:a16="http://schemas.microsoft.com/office/drawing/2014/main" id="{B0D1B723-EAE8-D3A3-A656-1B9F01304AF5}"/>
              </a:ext>
            </a:extLst>
          </p:cNvPr>
          <p:cNvSpPr txBox="1">
            <a:spLocks/>
          </p:cNvSpPr>
          <p:nvPr/>
        </p:nvSpPr>
        <p:spPr>
          <a:xfrm>
            <a:off x="471303" y="1479358"/>
            <a:ext cx="3579492" cy="672718"/>
          </a:xfrm>
          <a:prstGeom prst="rect">
            <a:avLst/>
          </a:prstGeom>
        </p:spPr>
        <p:txBody>
          <a:bodyPr vert="horz" lIns="0" tIns="0" rIns="0" bIns="0" rtlCol="0">
            <a:normAutofit/>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Sales decline after the holidays as consumer spending slows</a:t>
            </a:r>
          </a:p>
        </p:txBody>
      </p:sp>
    </p:spTree>
    <p:extLst>
      <p:ext uri="{BB962C8B-B14F-4D97-AF65-F5344CB8AC3E}">
        <p14:creationId xmlns:p14="http://schemas.microsoft.com/office/powerpoint/2010/main" val="2789888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a:extLst>
            <a:ext uri="{FF2B5EF4-FFF2-40B4-BE49-F238E27FC236}">
              <a16:creationId xmlns:a16="http://schemas.microsoft.com/office/drawing/2014/main" id="{3F5820FD-4BCE-4968-DC23-356D7E87203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C2D6D6-2284-88AB-4CAB-6A0F5B92E01A}"/>
              </a:ext>
            </a:extLst>
          </p:cNvPr>
          <p:cNvSpPr>
            <a:spLocks noGrp="1"/>
          </p:cNvSpPr>
          <p:nvPr>
            <p:ph type="title"/>
          </p:nvPr>
        </p:nvSpPr>
        <p:spPr>
          <a:xfrm>
            <a:off x="841248" y="1202226"/>
            <a:ext cx="10479024" cy="557784"/>
          </a:xfrm>
        </p:spPr>
        <p:txBody>
          <a:bodyPr/>
          <a:lstStyle/>
          <a:p>
            <a:r>
              <a:rPr lang="en-US" dirty="0"/>
              <a:t>The cleaning process</a:t>
            </a:r>
            <a:br>
              <a:rPr lang="en-US" dirty="0"/>
            </a:br>
            <a:endParaRPr lang="en-US" dirty="0"/>
          </a:p>
        </p:txBody>
      </p:sp>
      <p:sp>
        <p:nvSpPr>
          <p:cNvPr id="4" name="Text Placeholder 3">
            <a:extLst>
              <a:ext uri="{FF2B5EF4-FFF2-40B4-BE49-F238E27FC236}">
                <a16:creationId xmlns:a16="http://schemas.microsoft.com/office/drawing/2014/main" id="{B6ADEA24-1FA4-4EA9-42EB-CE38CB115994}"/>
              </a:ext>
            </a:extLst>
          </p:cNvPr>
          <p:cNvSpPr>
            <a:spLocks noGrp="1"/>
          </p:cNvSpPr>
          <p:nvPr>
            <p:ph type="body" sz="quarter" idx="10"/>
          </p:nvPr>
        </p:nvSpPr>
        <p:spPr>
          <a:xfrm>
            <a:off x="841248" y="2089404"/>
            <a:ext cx="10479024" cy="2679192"/>
          </a:xfrm>
        </p:spPr>
        <p:txBody>
          <a:bodyPr/>
          <a:lstStyle/>
          <a:p>
            <a:r>
              <a:rPr lang="en-US" dirty="0"/>
              <a:t>Preparing </a:t>
            </a:r>
          </a:p>
          <a:p>
            <a:r>
              <a:rPr lang="en-US" dirty="0"/>
              <a:t>Reliable Data</a:t>
            </a:r>
          </a:p>
        </p:txBody>
      </p:sp>
      <p:pic>
        <p:nvPicPr>
          <p:cNvPr id="5" name="Graphic 4" descr="Race Flag with solid fill">
            <a:extLst>
              <a:ext uri="{FF2B5EF4-FFF2-40B4-BE49-F238E27FC236}">
                <a16:creationId xmlns:a16="http://schemas.microsoft.com/office/drawing/2014/main" id="{0A1A97D4-E690-DA26-9FE8-04A24C05B6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7" name="Graphic 6" descr="Lights On with solid fill">
            <a:extLst>
              <a:ext uri="{FF2B5EF4-FFF2-40B4-BE49-F238E27FC236}">
                <a16:creationId xmlns:a16="http://schemas.microsoft.com/office/drawing/2014/main" id="{92FF954F-E93B-5E8A-701C-36DD71302F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1049" y="6483327"/>
            <a:ext cx="360235" cy="360235"/>
          </a:xfrm>
          <a:prstGeom prst="rect">
            <a:avLst/>
          </a:prstGeom>
        </p:spPr>
      </p:pic>
      <p:pic>
        <p:nvPicPr>
          <p:cNvPr id="10" name="Graphic 9" descr="Pin with solid fill">
            <a:extLst>
              <a:ext uri="{FF2B5EF4-FFF2-40B4-BE49-F238E27FC236}">
                <a16:creationId xmlns:a16="http://schemas.microsoft.com/office/drawing/2014/main" id="{3F5624DF-D75A-9F17-EA47-78ABB66776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7353" y="649776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0E4B680C-D48B-12DF-2EEA-C4D40D32BB7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57463" y="868484"/>
            <a:ext cx="5121032" cy="5121032"/>
          </a:xfrm>
          <a:prstGeom prst="rect">
            <a:avLst/>
          </a:prstGeom>
        </p:spPr>
      </p:pic>
      <p:pic>
        <p:nvPicPr>
          <p:cNvPr id="14" name="Graphic 13" descr="Tools with solid fill">
            <a:extLst>
              <a:ext uri="{FF2B5EF4-FFF2-40B4-BE49-F238E27FC236}">
                <a16:creationId xmlns:a16="http://schemas.microsoft.com/office/drawing/2014/main" id="{D32014FC-5B98-7D2C-4369-BD8ECD0229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3657" y="6497765"/>
            <a:ext cx="360235" cy="360235"/>
          </a:xfrm>
          <a:prstGeom prst="rect">
            <a:avLst/>
          </a:prstGeom>
        </p:spPr>
      </p:pic>
      <p:pic>
        <p:nvPicPr>
          <p:cNvPr id="16" name="Graphic 15" descr="Left Brain with solid fill">
            <a:extLst>
              <a:ext uri="{FF2B5EF4-FFF2-40B4-BE49-F238E27FC236}">
                <a16:creationId xmlns:a16="http://schemas.microsoft.com/office/drawing/2014/main" id="{CAF81444-A9E9-8988-8212-4C078E245D3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9261" y="6497764"/>
            <a:ext cx="360235" cy="360235"/>
          </a:xfrm>
          <a:prstGeom prst="rect">
            <a:avLst/>
          </a:prstGeom>
        </p:spPr>
      </p:pic>
      <p:pic>
        <p:nvPicPr>
          <p:cNvPr id="18" name="Graphic 17" descr="Magnifying glass with solid fill">
            <a:extLst>
              <a:ext uri="{FF2B5EF4-FFF2-40B4-BE49-F238E27FC236}">
                <a16:creationId xmlns:a16="http://schemas.microsoft.com/office/drawing/2014/main" id="{8ABC7F31-048E-6BB6-8D14-CEBCDC5968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15561950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03ED-5845-9B34-EF4D-77F260C5537F}"/>
              </a:ext>
            </a:extLst>
          </p:cNvPr>
          <p:cNvSpPr>
            <a:spLocks noGrp="1"/>
          </p:cNvSpPr>
          <p:nvPr>
            <p:ph type="title"/>
          </p:nvPr>
        </p:nvSpPr>
        <p:spPr>
          <a:xfrm>
            <a:off x="841248" y="841248"/>
            <a:ext cx="10479024" cy="557784"/>
          </a:xfrm>
        </p:spPr>
        <p:txBody>
          <a:bodyPr/>
          <a:lstStyle/>
          <a:p>
            <a:r>
              <a:rPr lang="en-US" dirty="0"/>
              <a:t>Building a Reliable Data Model</a:t>
            </a:r>
            <a:br>
              <a:rPr lang="en-US" dirty="0"/>
            </a:br>
            <a:endParaRPr lang="en-US" dirty="0"/>
          </a:p>
        </p:txBody>
      </p:sp>
      <p:graphicFrame>
        <p:nvGraphicFramePr>
          <p:cNvPr id="6" name="Table Placeholder 3">
            <a:extLst>
              <a:ext uri="{FF2B5EF4-FFF2-40B4-BE49-F238E27FC236}">
                <a16:creationId xmlns:a16="http://schemas.microsoft.com/office/drawing/2014/main" id="{29F1D68E-A6BD-BBAF-E58E-99086D82D066}"/>
              </a:ext>
            </a:extLst>
          </p:cNvPr>
          <p:cNvGraphicFramePr>
            <a:graphicFrameLocks noGrp="1"/>
          </p:cNvGraphicFramePr>
          <p:nvPr>
            <p:ph sz="quarter" idx="14"/>
            <p:extLst>
              <p:ext uri="{D42A27DB-BD31-4B8C-83A1-F6EECF244321}">
                <p14:modId xmlns:p14="http://schemas.microsoft.com/office/powerpoint/2010/main" val="2152819058"/>
              </p:ext>
            </p:extLst>
          </p:nvPr>
        </p:nvGraphicFramePr>
        <p:xfrm>
          <a:off x="841375" y="1527175"/>
          <a:ext cx="10477500" cy="4752340"/>
        </p:xfrm>
        <a:graphic>
          <a:graphicData uri="http://schemas.openxmlformats.org/drawingml/2006/table">
            <a:tbl>
              <a:tblPr firstRow="1" bandRow="1">
                <a:tableStyleId>{68D230F3-CF80-4859-8CE7-A43EE81993B5}</a:tableStyleId>
              </a:tblPr>
              <a:tblGrid>
                <a:gridCol w="3886200">
                  <a:extLst>
                    <a:ext uri="{9D8B030D-6E8A-4147-A177-3AD203B41FA5}">
                      <a16:colId xmlns:a16="http://schemas.microsoft.com/office/drawing/2014/main" val="130956065"/>
                    </a:ext>
                  </a:extLst>
                </a:gridCol>
                <a:gridCol w="6174740">
                  <a:extLst>
                    <a:ext uri="{9D8B030D-6E8A-4147-A177-3AD203B41FA5}">
                      <a16:colId xmlns:a16="http://schemas.microsoft.com/office/drawing/2014/main" val="2749965458"/>
                    </a:ext>
                  </a:extLst>
                </a:gridCol>
                <a:gridCol w="208280">
                  <a:extLst>
                    <a:ext uri="{9D8B030D-6E8A-4147-A177-3AD203B41FA5}">
                      <a16:colId xmlns:a16="http://schemas.microsoft.com/office/drawing/2014/main" val="2116711163"/>
                    </a:ext>
                  </a:extLst>
                </a:gridCol>
                <a:gridCol w="208280">
                  <a:extLst>
                    <a:ext uri="{9D8B030D-6E8A-4147-A177-3AD203B41FA5}">
                      <a16:colId xmlns:a16="http://schemas.microsoft.com/office/drawing/2014/main" val="1186885001"/>
                    </a:ext>
                  </a:extLst>
                </a:gridCol>
              </a:tblGrid>
              <a:tr h="749300">
                <a:tc>
                  <a:txBody>
                    <a:bodyPr/>
                    <a:lstStyle/>
                    <a:p>
                      <a:r>
                        <a:rPr lang="en-US" sz="2000" b="1" i="0" dirty="0">
                          <a:latin typeface="+mn-lt"/>
                        </a:rPr>
                        <a:t>Import Data</a:t>
                      </a:r>
                    </a:p>
                  </a:txBody>
                  <a:tcPr/>
                </a:tc>
                <a:tc>
                  <a:txBody>
                    <a:bodyPr/>
                    <a:lstStyle/>
                    <a:p>
                      <a:r>
                        <a:rPr lang="en-US" sz="2000" b="0" dirty="0"/>
                        <a:t>Merged multiple business tables into one Power BI model.</a:t>
                      </a:r>
                      <a:endParaRPr lang="en-US" sz="2000" b="0" i="0" dirty="0">
                        <a:latin typeface="+mn-lt"/>
                      </a:endParaRP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3741017008"/>
                  </a:ext>
                </a:extLst>
              </a:tr>
              <a:tr h="749300">
                <a:tc>
                  <a:txBody>
                    <a:bodyPr/>
                    <a:lstStyle/>
                    <a:p>
                      <a:r>
                        <a:rPr lang="en-US" sz="2000" b="1" dirty="0"/>
                        <a:t>Clean &amp; Transform</a:t>
                      </a:r>
                      <a:endParaRPr lang="en-US" sz="2000" b="1" i="0" dirty="0">
                        <a:latin typeface="+mn-lt"/>
                      </a:endParaRPr>
                    </a:p>
                  </a:txBody>
                  <a:tcPr/>
                </a:tc>
                <a:tc>
                  <a:txBody>
                    <a:bodyPr/>
                    <a:lstStyle/>
                    <a:p>
                      <a:r>
                        <a:rPr lang="en-US" sz="2000" dirty="0"/>
                        <a:t>Removed unnecessary columns</a:t>
                      </a:r>
                    </a:p>
                    <a:p>
                      <a:r>
                        <a:rPr lang="en-US" sz="2000" dirty="0"/>
                        <a:t>Corrected data types</a:t>
                      </a:r>
                    </a:p>
                    <a:p>
                      <a:r>
                        <a:rPr lang="en-US" sz="2000" dirty="0"/>
                        <a:t>Handled missing values</a:t>
                      </a: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511888340"/>
                  </a:ext>
                </a:extLst>
              </a:tr>
              <a:tr h="749300">
                <a:tc>
                  <a:txBody>
                    <a:bodyPr/>
                    <a:lstStyle/>
                    <a:p>
                      <a:r>
                        <a:rPr lang="en-US" sz="2000" b="1" dirty="0"/>
                        <a:t>Build Relationships</a:t>
                      </a:r>
                      <a:endParaRPr lang="en-US" sz="2000" b="1" i="0" dirty="0">
                        <a:latin typeface="+mn-lt"/>
                      </a:endParaRPr>
                    </a:p>
                  </a:txBody>
                  <a:tcPr/>
                </a:tc>
                <a:tc>
                  <a:txBody>
                    <a:bodyPr/>
                    <a:lstStyle/>
                    <a:p>
                      <a:r>
                        <a:rPr lang="en-US" sz="2000" dirty="0"/>
                        <a:t>Connected sales, products, regions, stores, and dates.</a:t>
                      </a:r>
                      <a:endParaRPr lang="en-US" sz="2000" b="0" i="0" dirty="0">
                        <a:latin typeface="+mn-lt"/>
                      </a:endParaRP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3937089168"/>
                  </a:ext>
                </a:extLst>
              </a:tr>
              <a:tr h="749300">
                <a:tc>
                  <a:txBody>
                    <a:bodyPr/>
                    <a:lstStyle/>
                    <a:p>
                      <a:r>
                        <a:rPr lang="en-US" sz="2000" b="1" dirty="0"/>
                        <a:t>Create Date Table</a:t>
                      </a:r>
                      <a:endParaRPr lang="en-US" sz="2000" b="1" i="0" dirty="0">
                        <a:latin typeface="+mn-lt"/>
                      </a:endParaRPr>
                    </a:p>
                  </a:txBody>
                  <a:tcPr/>
                </a:tc>
                <a:tc>
                  <a:txBody>
                    <a:bodyPr/>
                    <a:lstStyle/>
                    <a:p>
                      <a:r>
                        <a:rPr lang="en-US" sz="2000" dirty="0"/>
                        <a:t>Enabled accurate monthly and yearly trend analysis.</a:t>
                      </a:r>
                      <a:endParaRPr lang="en-US" sz="2000" b="0" i="0" dirty="0">
                        <a:latin typeface="+mn-lt"/>
                      </a:endParaRP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1031597798"/>
                  </a:ext>
                </a:extLst>
              </a:tr>
              <a:tr h="749300">
                <a:tc>
                  <a:txBody>
                    <a:bodyPr/>
                    <a:lstStyle/>
                    <a:p>
                      <a:r>
                        <a:rPr lang="en-US" sz="2000" b="1" dirty="0"/>
                        <a:t>Create DAX Measures</a:t>
                      </a:r>
                      <a:endParaRPr lang="en-US" sz="2000" b="1" i="0" dirty="0">
                        <a:latin typeface="+mn-lt"/>
                      </a:endParaRPr>
                    </a:p>
                  </a:txBody>
                  <a:tcPr/>
                </a:tc>
                <a:tc>
                  <a:txBody>
                    <a:bodyPr/>
                    <a:lstStyle/>
                    <a:p>
                      <a:r>
                        <a:rPr lang="en-US" sz="2000" dirty="0"/>
                        <a:t>Top State, 4-Year Revenue, Top Store, Online Revenue, In-Store Revenue</a:t>
                      </a:r>
                      <a:endParaRPr lang="en-US" sz="2000" b="0" i="0" dirty="0">
                        <a:latin typeface="+mn-lt"/>
                      </a:endParaRP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1194376521"/>
                  </a:ext>
                </a:extLst>
              </a:tr>
              <a:tr h="749300">
                <a:tc>
                  <a:txBody>
                    <a:bodyPr/>
                    <a:lstStyle/>
                    <a:p>
                      <a:r>
                        <a:rPr lang="en-US" sz="2000" b="1" dirty="0"/>
                        <a:t>Validate Results</a:t>
                      </a:r>
                      <a:endParaRPr lang="en-US" sz="2000" b="1" i="0" dirty="0">
                        <a:latin typeface="+mn-lt"/>
                      </a:endParaRPr>
                    </a:p>
                  </a:txBody>
                  <a:tcPr/>
                </a:tc>
                <a:tc>
                  <a:txBody>
                    <a:bodyPr/>
                    <a:lstStyle/>
                    <a:p>
                      <a:r>
                        <a:rPr lang="en-US" sz="2000" dirty="0"/>
                        <a:t>Verified South Region assignments</a:t>
                      </a:r>
                    </a:p>
                    <a:p>
                      <a:r>
                        <a:rPr lang="en-US" sz="2000" dirty="0"/>
                        <a:t>Confirmed totals matched source data</a:t>
                      </a:r>
                    </a:p>
                  </a:txBody>
                  <a:tcPr/>
                </a:tc>
                <a:tc>
                  <a:txBody>
                    <a:bodyPr/>
                    <a:lstStyle/>
                    <a:p>
                      <a:endParaRPr lang="en-US" sz="2000" b="0" i="0" dirty="0">
                        <a:latin typeface="+mn-lt"/>
                      </a:endParaRPr>
                    </a:p>
                  </a:txBody>
                  <a:tcPr/>
                </a:tc>
                <a:tc>
                  <a:txBody>
                    <a:bodyPr/>
                    <a:lstStyle/>
                    <a:p>
                      <a:endParaRPr lang="en-US" sz="2000" b="0" i="0" dirty="0">
                        <a:latin typeface="+mn-lt"/>
                      </a:endParaRPr>
                    </a:p>
                  </a:txBody>
                  <a:tcPr/>
                </a:tc>
                <a:extLst>
                  <a:ext uri="{0D108BD9-81ED-4DB2-BD59-A6C34878D82A}">
                    <a16:rowId xmlns:a16="http://schemas.microsoft.com/office/drawing/2014/main" val="1918266800"/>
                  </a:ext>
                </a:extLst>
              </a:tr>
            </a:tbl>
          </a:graphicData>
        </a:graphic>
      </p:graphicFrame>
      <p:sp>
        <p:nvSpPr>
          <p:cNvPr id="4" name="Slide Number Placeholder 3">
            <a:extLst>
              <a:ext uri="{FF2B5EF4-FFF2-40B4-BE49-F238E27FC236}">
                <a16:creationId xmlns:a16="http://schemas.microsoft.com/office/drawing/2014/main" id="{9B333A90-2ED2-EF64-F9B3-7807A3275B8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12</a:t>
            </a:fld>
            <a:endParaRPr lang="en-US" dirty="0"/>
          </a:p>
        </p:txBody>
      </p:sp>
      <p:pic>
        <p:nvPicPr>
          <p:cNvPr id="5" name="Graphic 4" descr="Race Flag with solid fill">
            <a:extLst>
              <a:ext uri="{FF2B5EF4-FFF2-40B4-BE49-F238E27FC236}">
                <a16:creationId xmlns:a16="http://schemas.microsoft.com/office/drawing/2014/main" id="{769E1DFF-B04F-E555-293C-C02F967EE3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8" name="Graphic 7" descr="Lights On with solid fill">
            <a:extLst>
              <a:ext uri="{FF2B5EF4-FFF2-40B4-BE49-F238E27FC236}">
                <a16:creationId xmlns:a16="http://schemas.microsoft.com/office/drawing/2014/main" id="{FAAF3FFE-C1AD-12AB-8665-13CDE1029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1049" y="6483327"/>
            <a:ext cx="360235" cy="360235"/>
          </a:xfrm>
          <a:prstGeom prst="rect">
            <a:avLst/>
          </a:prstGeom>
        </p:spPr>
      </p:pic>
      <p:pic>
        <p:nvPicPr>
          <p:cNvPr id="10" name="Graphic 9" descr="Pin with solid fill">
            <a:extLst>
              <a:ext uri="{FF2B5EF4-FFF2-40B4-BE49-F238E27FC236}">
                <a16:creationId xmlns:a16="http://schemas.microsoft.com/office/drawing/2014/main" id="{0EDC41B5-1157-D77E-60AD-A05DC5C0A5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7353" y="6497765"/>
            <a:ext cx="360235" cy="360235"/>
          </a:xfrm>
          <a:prstGeom prst="rect">
            <a:avLst/>
          </a:prstGeom>
        </p:spPr>
      </p:pic>
      <p:pic>
        <p:nvPicPr>
          <p:cNvPr id="12" name="Graphic 11" descr="Bar graph with upward trend with solid fill">
            <a:extLst>
              <a:ext uri="{FF2B5EF4-FFF2-40B4-BE49-F238E27FC236}">
                <a16:creationId xmlns:a16="http://schemas.microsoft.com/office/drawing/2014/main" id="{F62ADBA0-1174-C5F3-23E4-85CAD12205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6459" y="6497765"/>
            <a:ext cx="360235" cy="360235"/>
          </a:xfrm>
          <a:prstGeom prst="rect">
            <a:avLst/>
          </a:prstGeom>
        </p:spPr>
      </p:pic>
      <p:pic>
        <p:nvPicPr>
          <p:cNvPr id="14" name="Graphic 13" descr="Tools with solid fill">
            <a:extLst>
              <a:ext uri="{FF2B5EF4-FFF2-40B4-BE49-F238E27FC236}">
                <a16:creationId xmlns:a16="http://schemas.microsoft.com/office/drawing/2014/main" id="{FF901D28-D7D9-9A9C-EE01-32BE29E692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3657" y="6497765"/>
            <a:ext cx="360235" cy="360235"/>
          </a:xfrm>
          <a:prstGeom prst="rect">
            <a:avLst/>
          </a:prstGeom>
        </p:spPr>
      </p:pic>
      <p:pic>
        <p:nvPicPr>
          <p:cNvPr id="16" name="Graphic 15" descr="Left Brain with solid fill">
            <a:extLst>
              <a:ext uri="{FF2B5EF4-FFF2-40B4-BE49-F238E27FC236}">
                <a16:creationId xmlns:a16="http://schemas.microsoft.com/office/drawing/2014/main" id="{CC07A7A2-C6C3-1B1D-E421-B901794AD8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1012" y="6483327"/>
            <a:ext cx="360235" cy="360235"/>
          </a:xfrm>
          <a:prstGeom prst="rect">
            <a:avLst/>
          </a:prstGeom>
        </p:spPr>
      </p:pic>
      <p:pic>
        <p:nvPicPr>
          <p:cNvPr id="18" name="Graphic 17" descr="Magnifying glass with solid fill">
            <a:extLst>
              <a:ext uri="{FF2B5EF4-FFF2-40B4-BE49-F238E27FC236}">
                <a16:creationId xmlns:a16="http://schemas.microsoft.com/office/drawing/2014/main" id="{C2CF5A93-5519-8EDC-109F-8CECFE2293C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947225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5D8FACD9-4906-4691-55B9-710FC59D2130}"/>
              </a:ext>
            </a:extLst>
          </p:cNvPr>
          <p:cNvSpPr>
            <a:spLocks noGrp="1"/>
          </p:cNvSpPr>
          <p:nvPr>
            <p:ph type="title"/>
          </p:nvPr>
        </p:nvSpPr>
        <p:spPr>
          <a:xfrm>
            <a:off x="841247" y="1764953"/>
            <a:ext cx="6099048" cy="1987296"/>
          </a:xfrm>
        </p:spPr>
        <p:txBody>
          <a:bodyPr/>
          <a:lstStyle/>
          <a:p>
            <a:pPr algn="ctr"/>
            <a:r>
              <a:rPr lang="en-US" dirty="0"/>
              <a:t>Testing </a:t>
            </a:r>
            <a:br>
              <a:rPr lang="en-US" dirty="0"/>
            </a:br>
            <a:r>
              <a:rPr lang="en-US" dirty="0"/>
              <a:t>the </a:t>
            </a:r>
            <a:br>
              <a:rPr lang="en-US" dirty="0"/>
            </a:br>
            <a:r>
              <a:rPr lang="en-US" dirty="0"/>
              <a:t>Evidence</a:t>
            </a:r>
            <a:br>
              <a:rPr lang="en-US" dirty="0"/>
            </a:br>
            <a:endParaRPr lang="en-US" dirty="0"/>
          </a:p>
        </p:txBody>
      </p:sp>
      <p:sp>
        <p:nvSpPr>
          <p:cNvPr id="46" name="Text Placeholder 45">
            <a:extLst>
              <a:ext uri="{FF2B5EF4-FFF2-40B4-BE49-F238E27FC236}">
                <a16:creationId xmlns:a16="http://schemas.microsoft.com/office/drawing/2014/main" id="{B7BFD7D2-6C97-1E33-B2CC-6AE1EB9EF8D2}"/>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D45A4C16-121E-2E37-49E9-4A4ACF2C51FB}"/>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D585FA3F-E61C-D66E-07B0-F757A8CA6054}"/>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37E333FD-F3EA-ED3D-DAD7-C1B2247BA3CA}"/>
              </a:ext>
            </a:extLst>
          </p:cNvPr>
          <p:cNvSpPr>
            <a:spLocks noGrp="1"/>
          </p:cNvSpPr>
          <p:nvPr>
            <p:ph type="body" sz="quarter" idx="14"/>
          </p:nvPr>
        </p:nvSpPr>
        <p:spPr/>
        <p:txBody>
          <a:bodyPr/>
          <a:lstStyle/>
          <a:p>
            <a:endParaRPr lang="en-US" dirty="0"/>
          </a:p>
        </p:txBody>
      </p:sp>
      <p:pic>
        <p:nvPicPr>
          <p:cNvPr id="3" name="Graphic 2" descr="Race Flag with solid fill">
            <a:extLst>
              <a:ext uri="{FF2B5EF4-FFF2-40B4-BE49-F238E27FC236}">
                <a16:creationId xmlns:a16="http://schemas.microsoft.com/office/drawing/2014/main" id="{AEA20F81-9D76-08EF-B072-461FF4C6C0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5" name="Graphic 4" descr="Lights On with solid fill">
            <a:extLst>
              <a:ext uri="{FF2B5EF4-FFF2-40B4-BE49-F238E27FC236}">
                <a16:creationId xmlns:a16="http://schemas.microsoft.com/office/drawing/2014/main" id="{3AF0FD4B-C548-418F-F794-05E578631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1049" y="6483327"/>
            <a:ext cx="360235" cy="360235"/>
          </a:xfrm>
          <a:prstGeom prst="rect">
            <a:avLst/>
          </a:prstGeom>
        </p:spPr>
      </p:pic>
      <p:pic>
        <p:nvPicPr>
          <p:cNvPr id="7" name="Graphic 6" descr="Pin with solid fill">
            <a:extLst>
              <a:ext uri="{FF2B5EF4-FFF2-40B4-BE49-F238E27FC236}">
                <a16:creationId xmlns:a16="http://schemas.microsoft.com/office/drawing/2014/main" id="{5D76C35C-91F2-9CD9-227F-DFDDF2C935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7353" y="6497765"/>
            <a:ext cx="360235" cy="360235"/>
          </a:xfrm>
          <a:prstGeom prst="rect">
            <a:avLst/>
          </a:prstGeom>
        </p:spPr>
      </p:pic>
      <p:pic>
        <p:nvPicPr>
          <p:cNvPr id="10" name="Graphic 9" descr="Bar graph with upward trend with solid fill">
            <a:extLst>
              <a:ext uri="{FF2B5EF4-FFF2-40B4-BE49-F238E27FC236}">
                <a16:creationId xmlns:a16="http://schemas.microsoft.com/office/drawing/2014/main" id="{06A7E51B-922B-A0FA-86A3-32D89E9BDA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6459" y="6497765"/>
            <a:ext cx="360235" cy="360235"/>
          </a:xfrm>
          <a:prstGeom prst="rect">
            <a:avLst/>
          </a:prstGeom>
        </p:spPr>
      </p:pic>
      <p:pic>
        <p:nvPicPr>
          <p:cNvPr id="12" name="Graphic 11" descr="Tools with solid fill">
            <a:extLst>
              <a:ext uri="{FF2B5EF4-FFF2-40B4-BE49-F238E27FC236}">
                <a16:creationId xmlns:a16="http://schemas.microsoft.com/office/drawing/2014/main" id="{106F3EC6-020E-CE50-2F51-862B926917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40295" y="1330672"/>
            <a:ext cx="4029075" cy="4029075"/>
          </a:xfrm>
          <a:prstGeom prst="rect">
            <a:avLst/>
          </a:prstGeom>
        </p:spPr>
      </p:pic>
      <p:pic>
        <p:nvPicPr>
          <p:cNvPr id="14" name="Graphic 13" descr="Left Brain with solid fill">
            <a:extLst>
              <a:ext uri="{FF2B5EF4-FFF2-40B4-BE49-F238E27FC236}">
                <a16:creationId xmlns:a16="http://schemas.microsoft.com/office/drawing/2014/main" id="{8F2E666A-9D93-55B6-06D8-51B40134106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012" y="6483327"/>
            <a:ext cx="360235" cy="360235"/>
          </a:xfrm>
          <a:prstGeom prst="rect">
            <a:avLst/>
          </a:prstGeom>
        </p:spPr>
      </p:pic>
      <p:pic>
        <p:nvPicPr>
          <p:cNvPr id="16" name="Graphic 15" descr="Magnifying glass with solid fill">
            <a:extLst>
              <a:ext uri="{FF2B5EF4-FFF2-40B4-BE49-F238E27FC236}">
                <a16:creationId xmlns:a16="http://schemas.microsoft.com/office/drawing/2014/main" id="{10570BDD-197A-F05D-73DF-01A2F0FD22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4178334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EB7C78-0890-627E-C852-B11CAB85CFE7}"/>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14</a:t>
            </a:fld>
            <a:endParaRPr lang="en-US" dirty="0"/>
          </a:p>
        </p:txBody>
      </p:sp>
      <p:pic>
        <p:nvPicPr>
          <p:cNvPr id="7" name="Graphic 6" descr="Race Flag with solid fill">
            <a:extLst>
              <a:ext uri="{FF2B5EF4-FFF2-40B4-BE49-F238E27FC236}">
                <a16:creationId xmlns:a16="http://schemas.microsoft.com/office/drawing/2014/main" id="{FA542E00-50D0-1BF9-C42D-0542517A3E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29" name="Picture 28">
            <a:extLst>
              <a:ext uri="{FF2B5EF4-FFF2-40B4-BE49-F238E27FC236}">
                <a16:creationId xmlns:a16="http://schemas.microsoft.com/office/drawing/2014/main" id="{4443BD89-418D-F03B-061B-997F8D5062C2}"/>
              </a:ext>
            </a:extLst>
          </p:cNvPr>
          <p:cNvPicPr>
            <a:picLocks noChangeAspect="1"/>
          </p:cNvPicPr>
          <p:nvPr/>
        </p:nvPicPr>
        <p:blipFill>
          <a:blip r:embed="rId4"/>
          <a:stretch>
            <a:fillRect/>
          </a:stretch>
        </p:blipFill>
        <p:spPr>
          <a:xfrm>
            <a:off x="9418" y="-14440"/>
            <a:ext cx="12182582" cy="6872439"/>
          </a:xfrm>
          <a:prstGeom prst="rect">
            <a:avLst/>
          </a:prstGeom>
        </p:spPr>
      </p:pic>
    </p:spTree>
    <p:extLst>
      <p:ext uri="{BB962C8B-B14F-4D97-AF65-F5344CB8AC3E}">
        <p14:creationId xmlns:p14="http://schemas.microsoft.com/office/powerpoint/2010/main" val="4050281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a:extLst>
            <a:ext uri="{FF2B5EF4-FFF2-40B4-BE49-F238E27FC236}">
              <a16:creationId xmlns:a16="http://schemas.microsoft.com/office/drawing/2014/main" id="{34A5EE2B-8661-BA36-490E-4B6422E393CC}"/>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9BBB33BE-A674-2D0D-52C6-33C25B192907}"/>
              </a:ext>
            </a:extLst>
          </p:cNvPr>
          <p:cNvSpPr>
            <a:spLocks noGrp="1"/>
          </p:cNvSpPr>
          <p:nvPr>
            <p:ph type="title"/>
          </p:nvPr>
        </p:nvSpPr>
        <p:spPr>
          <a:xfrm>
            <a:off x="841247" y="1764953"/>
            <a:ext cx="6099048" cy="1987296"/>
          </a:xfrm>
        </p:spPr>
        <p:txBody>
          <a:bodyPr/>
          <a:lstStyle/>
          <a:p>
            <a:pPr algn="ctr"/>
            <a:r>
              <a:rPr lang="en-US" dirty="0"/>
              <a:t>South Region Findings</a:t>
            </a:r>
            <a:br>
              <a:rPr lang="en-US" dirty="0"/>
            </a:br>
            <a:br>
              <a:rPr lang="en-US" dirty="0"/>
            </a:br>
            <a:endParaRPr lang="en-US" dirty="0"/>
          </a:p>
        </p:txBody>
      </p:sp>
      <p:sp>
        <p:nvSpPr>
          <p:cNvPr id="46" name="Text Placeholder 45">
            <a:extLst>
              <a:ext uri="{FF2B5EF4-FFF2-40B4-BE49-F238E27FC236}">
                <a16:creationId xmlns:a16="http://schemas.microsoft.com/office/drawing/2014/main" id="{C0EFE0D0-E396-8FC7-8037-BB2FFB881DC5}"/>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8EDB89ED-F091-A2A6-E97F-A63F8D98145F}"/>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225CAD28-0F78-5F29-E59B-14B4ACCA38EE}"/>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0A21960F-1426-FF0D-3B33-15A55B7E9C07}"/>
              </a:ext>
            </a:extLst>
          </p:cNvPr>
          <p:cNvSpPr>
            <a:spLocks noGrp="1"/>
          </p:cNvSpPr>
          <p:nvPr>
            <p:ph type="body" sz="quarter" idx="14"/>
          </p:nvPr>
        </p:nvSpPr>
        <p:spPr/>
        <p:txBody>
          <a:bodyPr/>
          <a:lstStyle/>
          <a:p>
            <a:endParaRPr lang="en-US" dirty="0"/>
          </a:p>
        </p:txBody>
      </p:sp>
      <p:pic>
        <p:nvPicPr>
          <p:cNvPr id="3" name="Graphic 2" descr="Race Flag with solid fill">
            <a:extLst>
              <a:ext uri="{FF2B5EF4-FFF2-40B4-BE49-F238E27FC236}">
                <a16:creationId xmlns:a16="http://schemas.microsoft.com/office/drawing/2014/main" id="{471EF62A-8D81-2677-B9D9-A968B2F3D8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5" name="Graphic 4" descr="Lights On with solid fill">
            <a:extLst>
              <a:ext uri="{FF2B5EF4-FFF2-40B4-BE49-F238E27FC236}">
                <a16:creationId xmlns:a16="http://schemas.microsoft.com/office/drawing/2014/main" id="{E35D2903-667C-FE31-5552-104312BF2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1049" y="6483327"/>
            <a:ext cx="360235" cy="360235"/>
          </a:xfrm>
          <a:prstGeom prst="rect">
            <a:avLst/>
          </a:prstGeom>
        </p:spPr>
      </p:pic>
      <p:pic>
        <p:nvPicPr>
          <p:cNvPr id="7" name="Graphic 6" descr="Pin with solid fill">
            <a:extLst>
              <a:ext uri="{FF2B5EF4-FFF2-40B4-BE49-F238E27FC236}">
                <a16:creationId xmlns:a16="http://schemas.microsoft.com/office/drawing/2014/main" id="{5EE32F0A-FBA0-65B9-3516-C0F27CD9A2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4491" y="1124589"/>
            <a:ext cx="3987728" cy="3987728"/>
          </a:xfrm>
          <a:prstGeom prst="rect">
            <a:avLst/>
          </a:prstGeom>
        </p:spPr>
      </p:pic>
      <p:pic>
        <p:nvPicPr>
          <p:cNvPr id="10" name="Graphic 9" descr="Bar graph with upward trend with solid fill">
            <a:extLst>
              <a:ext uri="{FF2B5EF4-FFF2-40B4-BE49-F238E27FC236}">
                <a16:creationId xmlns:a16="http://schemas.microsoft.com/office/drawing/2014/main" id="{0BC87FB5-19B9-C2B9-1B5F-A805E84DA6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6459" y="6497765"/>
            <a:ext cx="360235" cy="360235"/>
          </a:xfrm>
          <a:prstGeom prst="rect">
            <a:avLst/>
          </a:prstGeom>
        </p:spPr>
      </p:pic>
      <p:pic>
        <p:nvPicPr>
          <p:cNvPr id="12" name="Graphic 11" descr="Tools with solid fill">
            <a:extLst>
              <a:ext uri="{FF2B5EF4-FFF2-40B4-BE49-F238E27FC236}">
                <a16:creationId xmlns:a16="http://schemas.microsoft.com/office/drawing/2014/main" id="{2AE77E71-1E2D-DFE7-5747-FD0B494E5A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3763" y="6483325"/>
            <a:ext cx="360235" cy="360235"/>
          </a:xfrm>
          <a:prstGeom prst="rect">
            <a:avLst/>
          </a:prstGeom>
        </p:spPr>
      </p:pic>
      <p:pic>
        <p:nvPicPr>
          <p:cNvPr id="14" name="Graphic 13" descr="Left Brain with solid fill">
            <a:extLst>
              <a:ext uri="{FF2B5EF4-FFF2-40B4-BE49-F238E27FC236}">
                <a16:creationId xmlns:a16="http://schemas.microsoft.com/office/drawing/2014/main" id="{6413DAE8-2CE1-3B07-4F36-7D5D08125B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012" y="6483327"/>
            <a:ext cx="360235" cy="360235"/>
          </a:xfrm>
          <a:prstGeom prst="rect">
            <a:avLst/>
          </a:prstGeom>
        </p:spPr>
      </p:pic>
      <p:pic>
        <p:nvPicPr>
          <p:cNvPr id="16" name="Graphic 15" descr="Magnifying glass with solid fill">
            <a:extLst>
              <a:ext uri="{FF2B5EF4-FFF2-40B4-BE49-F238E27FC236}">
                <a16:creationId xmlns:a16="http://schemas.microsoft.com/office/drawing/2014/main" id="{35CDFCD0-38F1-8918-78AA-2D69A32EBA6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2690983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25AA3C-075D-E8DD-D48B-DA9E07CBE09F}"/>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16</a:t>
            </a:fld>
            <a:endParaRPr lang="en-US" dirty="0"/>
          </a:p>
        </p:txBody>
      </p:sp>
      <p:pic>
        <p:nvPicPr>
          <p:cNvPr id="6" name="Graphic 5" descr="Race Flag with solid fill">
            <a:extLst>
              <a:ext uri="{FF2B5EF4-FFF2-40B4-BE49-F238E27FC236}">
                <a16:creationId xmlns:a16="http://schemas.microsoft.com/office/drawing/2014/main" id="{518D5917-E5C4-7ED2-0679-4E73402A7B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0EF2B49A-706E-0B28-C33E-887942D361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1800ADD7-709B-DDC0-4DA5-671A511EC6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7353" y="6497765"/>
            <a:ext cx="360235" cy="360235"/>
          </a:xfrm>
          <a:prstGeom prst="rect">
            <a:avLst/>
          </a:prstGeom>
        </p:spPr>
      </p:pic>
      <p:pic>
        <p:nvPicPr>
          <p:cNvPr id="13" name="Graphic 12" descr="Bar graph with upward trend with solid fill">
            <a:extLst>
              <a:ext uri="{FF2B5EF4-FFF2-40B4-BE49-F238E27FC236}">
                <a16:creationId xmlns:a16="http://schemas.microsoft.com/office/drawing/2014/main" id="{D82785D8-0A62-5F02-194A-BAB34382CF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6459" y="6497765"/>
            <a:ext cx="360235" cy="360235"/>
          </a:xfrm>
          <a:prstGeom prst="rect">
            <a:avLst/>
          </a:prstGeom>
        </p:spPr>
      </p:pic>
      <p:pic>
        <p:nvPicPr>
          <p:cNvPr id="15" name="Graphic 14" descr="Tools with solid fill">
            <a:extLst>
              <a:ext uri="{FF2B5EF4-FFF2-40B4-BE49-F238E27FC236}">
                <a16:creationId xmlns:a16="http://schemas.microsoft.com/office/drawing/2014/main" id="{B8629459-A88D-AE41-FBA3-319386EC9C8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3657" y="6497765"/>
            <a:ext cx="360235" cy="360235"/>
          </a:xfrm>
          <a:prstGeom prst="rect">
            <a:avLst/>
          </a:prstGeom>
        </p:spPr>
      </p:pic>
      <p:pic>
        <p:nvPicPr>
          <p:cNvPr id="17" name="Graphic 16" descr="Left Brain with solid fill">
            <a:extLst>
              <a:ext uri="{FF2B5EF4-FFF2-40B4-BE49-F238E27FC236}">
                <a16:creationId xmlns:a16="http://schemas.microsoft.com/office/drawing/2014/main" id="{246F6DCE-A885-D3E7-0169-9551E111D2B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1012" y="6483327"/>
            <a:ext cx="360235" cy="360235"/>
          </a:xfrm>
          <a:prstGeom prst="rect">
            <a:avLst/>
          </a:prstGeom>
        </p:spPr>
      </p:pic>
      <p:pic>
        <p:nvPicPr>
          <p:cNvPr id="19" name="Graphic 18" descr="Magnifying glass with solid fill">
            <a:extLst>
              <a:ext uri="{FF2B5EF4-FFF2-40B4-BE49-F238E27FC236}">
                <a16:creationId xmlns:a16="http://schemas.microsoft.com/office/drawing/2014/main" id="{D2352FAD-FF2D-C2E6-C77F-A0B62BC926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565" y="6497765"/>
            <a:ext cx="360235" cy="360235"/>
          </a:xfrm>
          <a:prstGeom prst="rect">
            <a:avLst/>
          </a:prstGeom>
        </p:spPr>
      </p:pic>
      <p:pic>
        <p:nvPicPr>
          <p:cNvPr id="28" name="Picture 27">
            <a:extLst>
              <a:ext uri="{FF2B5EF4-FFF2-40B4-BE49-F238E27FC236}">
                <a16:creationId xmlns:a16="http://schemas.microsoft.com/office/drawing/2014/main" id="{CCBDC350-AAB7-2CB2-A685-402EE1664EC0}"/>
              </a:ext>
            </a:extLst>
          </p:cNvPr>
          <p:cNvPicPr>
            <a:picLocks noChangeAspect="1"/>
          </p:cNvPicPr>
          <p:nvPr/>
        </p:nvPicPr>
        <p:blipFill>
          <a:blip r:embed="rId10"/>
          <a:stretch>
            <a:fillRect/>
          </a:stretch>
        </p:blipFill>
        <p:spPr>
          <a:xfrm>
            <a:off x="0" y="3371"/>
            <a:ext cx="12192000" cy="6851257"/>
          </a:xfrm>
          <a:prstGeom prst="rect">
            <a:avLst/>
          </a:prstGeom>
        </p:spPr>
      </p:pic>
    </p:spTree>
    <p:extLst>
      <p:ext uri="{BB962C8B-B14F-4D97-AF65-F5344CB8AC3E}">
        <p14:creationId xmlns:p14="http://schemas.microsoft.com/office/powerpoint/2010/main" val="5582812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a:extLst>
            <a:ext uri="{FF2B5EF4-FFF2-40B4-BE49-F238E27FC236}">
              <a16:creationId xmlns:a16="http://schemas.microsoft.com/office/drawing/2014/main" id="{DCC95B40-6110-0889-9142-164F1A3CD33E}"/>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8B1DC43F-D20F-E2DF-601D-65BA99D73FBC}"/>
              </a:ext>
            </a:extLst>
          </p:cNvPr>
          <p:cNvSpPr>
            <a:spLocks noGrp="1"/>
          </p:cNvSpPr>
          <p:nvPr>
            <p:ph type="title"/>
          </p:nvPr>
        </p:nvSpPr>
        <p:spPr>
          <a:xfrm>
            <a:off x="215682" y="2082194"/>
            <a:ext cx="8321414" cy="1987296"/>
          </a:xfrm>
        </p:spPr>
        <p:txBody>
          <a:bodyPr/>
          <a:lstStyle/>
          <a:p>
            <a:pPr algn="ctr"/>
            <a:r>
              <a:rPr lang="en-US" dirty="0"/>
              <a:t>Business Recommendations</a:t>
            </a:r>
            <a:br>
              <a:rPr lang="en-US" dirty="0"/>
            </a:br>
            <a:br>
              <a:rPr lang="en-US" dirty="0"/>
            </a:br>
            <a:endParaRPr lang="en-US" dirty="0"/>
          </a:p>
        </p:txBody>
      </p:sp>
      <p:sp>
        <p:nvSpPr>
          <p:cNvPr id="46" name="Text Placeholder 45">
            <a:extLst>
              <a:ext uri="{FF2B5EF4-FFF2-40B4-BE49-F238E27FC236}">
                <a16:creationId xmlns:a16="http://schemas.microsoft.com/office/drawing/2014/main" id="{E8138BCC-42A7-7332-E47B-C7489B5E306E}"/>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201BE7BC-7C9D-EF88-E347-FD1C533B736E}"/>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21FFBE0E-88EE-5EF6-844B-BAD158881662}"/>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CB31B479-7293-BF53-F99F-60FADDA3A4AB}"/>
              </a:ext>
            </a:extLst>
          </p:cNvPr>
          <p:cNvSpPr>
            <a:spLocks noGrp="1"/>
          </p:cNvSpPr>
          <p:nvPr>
            <p:ph type="body" sz="quarter" idx="14"/>
          </p:nvPr>
        </p:nvSpPr>
        <p:spPr/>
        <p:txBody>
          <a:bodyPr/>
          <a:lstStyle/>
          <a:p>
            <a:endParaRPr lang="en-US" dirty="0"/>
          </a:p>
        </p:txBody>
      </p:sp>
      <p:pic>
        <p:nvPicPr>
          <p:cNvPr id="3" name="Graphic 2" descr="Race Flag with solid fill">
            <a:extLst>
              <a:ext uri="{FF2B5EF4-FFF2-40B4-BE49-F238E27FC236}">
                <a16:creationId xmlns:a16="http://schemas.microsoft.com/office/drawing/2014/main" id="{03593F85-B559-6C68-486D-68E7463728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5" name="Graphic 4" descr="Lights On with solid fill">
            <a:extLst>
              <a:ext uri="{FF2B5EF4-FFF2-40B4-BE49-F238E27FC236}">
                <a16:creationId xmlns:a16="http://schemas.microsoft.com/office/drawing/2014/main" id="{C62608D9-5C49-49F8-9414-6006C2008C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37096" y="1989343"/>
            <a:ext cx="2879313" cy="2879313"/>
          </a:xfrm>
          <a:prstGeom prst="rect">
            <a:avLst/>
          </a:prstGeom>
        </p:spPr>
      </p:pic>
      <p:pic>
        <p:nvPicPr>
          <p:cNvPr id="7" name="Graphic 6" descr="Pin with solid fill">
            <a:extLst>
              <a:ext uri="{FF2B5EF4-FFF2-40B4-BE49-F238E27FC236}">
                <a16:creationId xmlns:a16="http://schemas.microsoft.com/office/drawing/2014/main" id="{8B10FA64-0C86-1E6C-A291-09FF694565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7353" y="6497765"/>
            <a:ext cx="360235" cy="360235"/>
          </a:xfrm>
          <a:prstGeom prst="rect">
            <a:avLst/>
          </a:prstGeom>
        </p:spPr>
      </p:pic>
      <p:pic>
        <p:nvPicPr>
          <p:cNvPr id="10" name="Graphic 9" descr="Bar graph with upward trend with solid fill">
            <a:extLst>
              <a:ext uri="{FF2B5EF4-FFF2-40B4-BE49-F238E27FC236}">
                <a16:creationId xmlns:a16="http://schemas.microsoft.com/office/drawing/2014/main" id="{B17E2A5D-AEAD-A37F-4D59-DEE8F027F22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6459" y="6497765"/>
            <a:ext cx="360235" cy="360235"/>
          </a:xfrm>
          <a:prstGeom prst="rect">
            <a:avLst/>
          </a:prstGeom>
        </p:spPr>
      </p:pic>
      <p:pic>
        <p:nvPicPr>
          <p:cNvPr id="12" name="Graphic 11" descr="Tools with solid fill">
            <a:extLst>
              <a:ext uri="{FF2B5EF4-FFF2-40B4-BE49-F238E27FC236}">
                <a16:creationId xmlns:a16="http://schemas.microsoft.com/office/drawing/2014/main" id="{2D848BBB-1EAA-FC24-FC0E-64D695B3A4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1906" y="6497766"/>
            <a:ext cx="360234" cy="360234"/>
          </a:xfrm>
          <a:prstGeom prst="rect">
            <a:avLst/>
          </a:prstGeom>
        </p:spPr>
      </p:pic>
      <p:pic>
        <p:nvPicPr>
          <p:cNvPr id="14" name="Graphic 13" descr="Left Brain with solid fill">
            <a:extLst>
              <a:ext uri="{FF2B5EF4-FFF2-40B4-BE49-F238E27FC236}">
                <a16:creationId xmlns:a16="http://schemas.microsoft.com/office/drawing/2014/main" id="{EC92FF59-C6A9-AC57-3197-47C9B651DF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012" y="6483327"/>
            <a:ext cx="360235" cy="360235"/>
          </a:xfrm>
          <a:prstGeom prst="rect">
            <a:avLst/>
          </a:prstGeom>
        </p:spPr>
      </p:pic>
      <p:pic>
        <p:nvPicPr>
          <p:cNvPr id="16" name="Graphic 15" descr="Magnifying glass with solid fill">
            <a:extLst>
              <a:ext uri="{FF2B5EF4-FFF2-40B4-BE49-F238E27FC236}">
                <a16:creationId xmlns:a16="http://schemas.microsoft.com/office/drawing/2014/main" id="{94EBE6A5-B966-1D78-F79B-CA9BBD6F593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4213310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55B6B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AE480-D58D-8A4F-D9AD-3E0956702A4C}"/>
              </a:ext>
            </a:extLst>
          </p:cNvPr>
          <p:cNvSpPr>
            <a:spLocks noGrp="1"/>
          </p:cNvSpPr>
          <p:nvPr>
            <p:ph type="sldNum" sz="quarter" idx="11"/>
          </p:nvPr>
        </p:nvSpPr>
        <p:spPr>
          <a:xfrm>
            <a:off x="10917936" y="6385422"/>
            <a:ext cx="843264" cy="288000"/>
          </a:xfrm>
        </p:spPr>
        <p:txBody>
          <a:bodyPr/>
          <a:lstStyle/>
          <a:p>
            <a:fld id="{B67B645E-C5E5-4727-B977-D372A0AA71D9}" type="slidenum">
              <a:rPr lang="en-US" smtClean="0"/>
              <a:pPr/>
              <a:t>18</a:t>
            </a:fld>
            <a:endParaRPr lang="en-US" dirty="0"/>
          </a:p>
        </p:txBody>
      </p:sp>
      <p:pic>
        <p:nvPicPr>
          <p:cNvPr id="7" name="Graphic 6" descr="Race Flag with solid fill">
            <a:extLst>
              <a:ext uri="{FF2B5EF4-FFF2-40B4-BE49-F238E27FC236}">
                <a16:creationId xmlns:a16="http://schemas.microsoft.com/office/drawing/2014/main" id="{1881AC7D-631F-9D15-E0AD-AAAA9D4127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71436" y="6483326"/>
            <a:ext cx="360235" cy="360235"/>
          </a:xfrm>
          <a:prstGeom prst="rect">
            <a:avLst/>
          </a:prstGeom>
        </p:spPr>
      </p:pic>
      <p:pic>
        <p:nvPicPr>
          <p:cNvPr id="9" name="Graphic 8" descr="Lights On with solid fill">
            <a:extLst>
              <a:ext uri="{FF2B5EF4-FFF2-40B4-BE49-F238E27FC236}">
                <a16:creationId xmlns:a16="http://schemas.microsoft.com/office/drawing/2014/main" id="{62ADF8ED-0E47-84C4-B290-2C049215B8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61049" y="6483327"/>
            <a:ext cx="360235" cy="360235"/>
          </a:xfrm>
          <a:prstGeom prst="rect">
            <a:avLst/>
          </a:prstGeom>
        </p:spPr>
      </p:pic>
      <p:pic>
        <p:nvPicPr>
          <p:cNvPr id="11" name="Graphic 10" descr="Pin with solid fill">
            <a:extLst>
              <a:ext uri="{FF2B5EF4-FFF2-40B4-BE49-F238E27FC236}">
                <a16:creationId xmlns:a16="http://schemas.microsoft.com/office/drawing/2014/main" id="{4282C140-AE32-B539-EF67-BD1E962C9C2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17353" y="6497765"/>
            <a:ext cx="360235" cy="360235"/>
          </a:xfrm>
          <a:prstGeom prst="rect">
            <a:avLst/>
          </a:prstGeom>
        </p:spPr>
      </p:pic>
      <p:pic>
        <p:nvPicPr>
          <p:cNvPr id="13" name="Graphic 12" descr="Bar graph with upward trend with solid fill">
            <a:extLst>
              <a:ext uri="{FF2B5EF4-FFF2-40B4-BE49-F238E27FC236}">
                <a16:creationId xmlns:a16="http://schemas.microsoft.com/office/drawing/2014/main" id="{5EB591F8-AC9D-E4F0-A506-4D38261024A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6459" y="6497765"/>
            <a:ext cx="360235" cy="360235"/>
          </a:xfrm>
          <a:prstGeom prst="rect">
            <a:avLst/>
          </a:prstGeom>
        </p:spPr>
      </p:pic>
      <p:pic>
        <p:nvPicPr>
          <p:cNvPr id="15" name="Graphic 14" descr="Tools with solid fill">
            <a:extLst>
              <a:ext uri="{FF2B5EF4-FFF2-40B4-BE49-F238E27FC236}">
                <a16:creationId xmlns:a16="http://schemas.microsoft.com/office/drawing/2014/main" id="{021660FE-59CD-7382-99F3-C376DC2D71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3657" y="6497765"/>
            <a:ext cx="360235" cy="360235"/>
          </a:xfrm>
          <a:prstGeom prst="rect">
            <a:avLst/>
          </a:prstGeom>
        </p:spPr>
      </p:pic>
      <p:pic>
        <p:nvPicPr>
          <p:cNvPr id="17" name="Graphic 16" descr="Left Brain with solid fill">
            <a:extLst>
              <a:ext uri="{FF2B5EF4-FFF2-40B4-BE49-F238E27FC236}">
                <a16:creationId xmlns:a16="http://schemas.microsoft.com/office/drawing/2014/main" id="{E5D6982A-62F2-4AA7-C5D0-4D10A45817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1012" y="6483327"/>
            <a:ext cx="360235" cy="360235"/>
          </a:xfrm>
          <a:prstGeom prst="rect">
            <a:avLst/>
          </a:prstGeom>
        </p:spPr>
      </p:pic>
      <p:pic>
        <p:nvPicPr>
          <p:cNvPr id="19" name="Graphic 18" descr="Magnifying glass with solid fill">
            <a:extLst>
              <a:ext uri="{FF2B5EF4-FFF2-40B4-BE49-F238E27FC236}">
                <a16:creationId xmlns:a16="http://schemas.microsoft.com/office/drawing/2014/main" id="{EEF23F4E-F8BB-AED3-50B8-A00797799E4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5565" y="6497765"/>
            <a:ext cx="360235" cy="360235"/>
          </a:xfrm>
          <a:prstGeom prst="rect">
            <a:avLst/>
          </a:prstGeom>
        </p:spPr>
      </p:pic>
      <p:pic>
        <p:nvPicPr>
          <p:cNvPr id="30" name="Picture 29">
            <a:extLst>
              <a:ext uri="{FF2B5EF4-FFF2-40B4-BE49-F238E27FC236}">
                <a16:creationId xmlns:a16="http://schemas.microsoft.com/office/drawing/2014/main" id="{A9E42FCA-3F4F-9A25-A6E8-B6216356A3E5}"/>
              </a:ext>
            </a:extLst>
          </p:cNvPr>
          <p:cNvPicPr>
            <a:picLocks noChangeAspect="1"/>
          </p:cNvPicPr>
          <p:nvPr/>
        </p:nvPicPr>
        <p:blipFill>
          <a:blip r:embed="rId10"/>
          <a:stretch>
            <a:fillRect/>
          </a:stretch>
        </p:blipFill>
        <p:spPr>
          <a:xfrm>
            <a:off x="1" y="0"/>
            <a:ext cx="12192000" cy="6858000"/>
          </a:xfrm>
          <a:prstGeom prst="rect">
            <a:avLst/>
          </a:prstGeom>
        </p:spPr>
      </p:pic>
    </p:spTree>
    <p:extLst>
      <p:ext uri="{BB962C8B-B14F-4D97-AF65-F5344CB8AC3E}">
        <p14:creationId xmlns:p14="http://schemas.microsoft.com/office/powerpoint/2010/main" val="1550294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a:extLst>
            <a:ext uri="{FF2B5EF4-FFF2-40B4-BE49-F238E27FC236}">
              <a16:creationId xmlns:a16="http://schemas.microsoft.com/office/drawing/2014/main" id="{81BF1EA5-B504-36DB-DEB8-05D28874B60F}"/>
            </a:ext>
          </a:extLst>
        </p:cNvPr>
        <p:cNvGrpSpPr/>
        <p:nvPr/>
      </p:nvGrpSpPr>
      <p:grpSpPr>
        <a:xfrm>
          <a:off x="0" y="0"/>
          <a:ext cx="0" cy="0"/>
          <a:chOff x="0" y="0"/>
          <a:chExt cx="0" cy="0"/>
        </a:xfrm>
      </p:grpSpPr>
      <p:sp>
        <p:nvSpPr>
          <p:cNvPr id="46" name="Text Placeholder 45">
            <a:extLst>
              <a:ext uri="{FF2B5EF4-FFF2-40B4-BE49-F238E27FC236}">
                <a16:creationId xmlns:a16="http://schemas.microsoft.com/office/drawing/2014/main" id="{AC6F29E0-BAE4-09EB-8CA5-9C0240C20232}"/>
              </a:ext>
            </a:extLst>
          </p:cNvPr>
          <p:cNvSpPr>
            <a:spLocks noGrp="1"/>
          </p:cNvSpPr>
          <p:nvPr>
            <p:ph type="body" sz="quarter" idx="15"/>
          </p:nvPr>
        </p:nvSpPr>
        <p:spPr/>
        <p:txBody>
          <a:bodyPr/>
          <a:lstStyle/>
          <a:p>
            <a:endParaRPr lang="en-US" dirty="0"/>
          </a:p>
        </p:txBody>
      </p:sp>
      <p:sp>
        <p:nvSpPr>
          <p:cNvPr id="43" name="Text Placeholder 42">
            <a:extLst>
              <a:ext uri="{FF2B5EF4-FFF2-40B4-BE49-F238E27FC236}">
                <a16:creationId xmlns:a16="http://schemas.microsoft.com/office/drawing/2014/main" id="{D3764BAA-96CD-BB39-C056-C56C34B16DC6}"/>
              </a:ext>
            </a:extLst>
          </p:cNvPr>
          <p:cNvSpPr>
            <a:spLocks noGrp="1"/>
          </p:cNvSpPr>
          <p:nvPr>
            <p:ph type="body" sz="quarter" idx="12"/>
          </p:nvPr>
        </p:nvSpPr>
        <p:spPr/>
        <p:txBody>
          <a:bodyPr/>
          <a:lstStyle/>
          <a:p>
            <a:endParaRPr lang="en-US" dirty="0"/>
          </a:p>
        </p:txBody>
      </p:sp>
      <p:sp>
        <p:nvSpPr>
          <p:cNvPr id="44" name="Text Placeholder 43">
            <a:extLst>
              <a:ext uri="{FF2B5EF4-FFF2-40B4-BE49-F238E27FC236}">
                <a16:creationId xmlns:a16="http://schemas.microsoft.com/office/drawing/2014/main" id="{0DC746AC-9226-B90F-2A99-94A8BD2CEE53}"/>
              </a:ext>
            </a:extLst>
          </p:cNvPr>
          <p:cNvSpPr>
            <a:spLocks noGrp="1"/>
          </p:cNvSpPr>
          <p:nvPr>
            <p:ph type="body" sz="quarter" idx="13"/>
          </p:nvPr>
        </p:nvSpPr>
        <p:spPr/>
        <p:txBody>
          <a:bodyPr/>
          <a:lstStyle/>
          <a:p>
            <a:endParaRPr lang="en-US" dirty="0"/>
          </a:p>
        </p:txBody>
      </p:sp>
      <p:sp>
        <p:nvSpPr>
          <p:cNvPr id="45" name="Text Placeholder 44">
            <a:extLst>
              <a:ext uri="{FF2B5EF4-FFF2-40B4-BE49-F238E27FC236}">
                <a16:creationId xmlns:a16="http://schemas.microsoft.com/office/drawing/2014/main" id="{C45F4C3E-FBC1-D6E0-A573-541812549579}"/>
              </a:ext>
            </a:extLst>
          </p:cNvPr>
          <p:cNvSpPr>
            <a:spLocks noGrp="1"/>
          </p:cNvSpPr>
          <p:nvPr>
            <p:ph type="body" sz="quarter" idx="14"/>
          </p:nvPr>
        </p:nvSpPr>
        <p:spPr/>
        <p:txBody>
          <a:bodyPr/>
          <a:lstStyle/>
          <a:p>
            <a:endParaRPr lang="en-US" dirty="0"/>
          </a:p>
        </p:txBody>
      </p:sp>
      <p:pic>
        <p:nvPicPr>
          <p:cNvPr id="3" name="Graphic 2" descr="Race Flag with solid fill">
            <a:extLst>
              <a:ext uri="{FF2B5EF4-FFF2-40B4-BE49-F238E27FC236}">
                <a16:creationId xmlns:a16="http://schemas.microsoft.com/office/drawing/2014/main" id="{E866FD55-8095-C8CC-5F26-3EFB928840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44040" y="1155690"/>
            <a:ext cx="3806690" cy="3806690"/>
          </a:xfrm>
          <a:prstGeom prst="rect">
            <a:avLst/>
          </a:prstGeom>
        </p:spPr>
      </p:pic>
      <p:pic>
        <p:nvPicPr>
          <p:cNvPr id="7" name="Graphic 6" descr="Pin with solid fill">
            <a:extLst>
              <a:ext uri="{FF2B5EF4-FFF2-40B4-BE49-F238E27FC236}">
                <a16:creationId xmlns:a16="http://schemas.microsoft.com/office/drawing/2014/main" id="{31B28E87-3730-68CE-3BF3-2266AE4D67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17353" y="6497765"/>
            <a:ext cx="360235" cy="360235"/>
          </a:xfrm>
          <a:prstGeom prst="rect">
            <a:avLst/>
          </a:prstGeom>
        </p:spPr>
      </p:pic>
      <p:pic>
        <p:nvPicPr>
          <p:cNvPr id="10" name="Graphic 9" descr="Bar graph with upward trend with solid fill">
            <a:extLst>
              <a:ext uri="{FF2B5EF4-FFF2-40B4-BE49-F238E27FC236}">
                <a16:creationId xmlns:a16="http://schemas.microsoft.com/office/drawing/2014/main" id="{2C4A15FB-5E61-BB3B-7FA3-14C6A2AD43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6459" y="6497765"/>
            <a:ext cx="360235" cy="360235"/>
          </a:xfrm>
          <a:prstGeom prst="rect">
            <a:avLst/>
          </a:prstGeom>
        </p:spPr>
      </p:pic>
      <p:pic>
        <p:nvPicPr>
          <p:cNvPr id="12" name="Graphic 11" descr="Tools with solid fill">
            <a:extLst>
              <a:ext uri="{FF2B5EF4-FFF2-40B4-BE49-F238E27FC236}">
                <a16:creationId xmlns:a16="http://schemas.microsoft.com/office/drawing/2014/main" id="{64EFB2F1-2C5A-E575-C3BD-D3324CFDEB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71906" y="6497766"/>
            <a:ext cx="360234" cy="360234"/>
          </a:xfrm>
          <a:prstGeom prst="rect">
            <a:avLst/>
          </a:prstGeom>
        </p:spPr>
      </p:pic>
      <p:pic>
        <p:nvPicPr>
          <p:cNvPr id="14" name="Graphic 13" descr="Left Brain with solid fill">
            <a:extLst>
              <a:ext uri="{FF2B5EF4-FFF2-40B4-BE49-F238E27FC236}">
                <a16:creationId xmlns:a16="http://schemas.microsoft.com/office/drawing/2014/main" id="{D8A44A22-F548-E6A8-605B-3AAFEDA83D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012" y="6483327"/>
            <a:ext cx="360235" cy="360235"/>
          </a:xfrm>
          <a:prstGeom prst="rect">
            <a:avLst/>
          </a:prstGeom>
        </p:spPr>
      </p:pic>
      <p:pic>
        <p:nvPicPr>
          <p:cNvPr id="16" name="Graphic 15" descr="Magnifying glass with solid fill">
            <a:extLst>
              <a:ext uri="{FF2B5EF4-FFF2-40B4-BE49-F238E27FC236}">
                <a16:creationId xmlns:a16="http://schemas.microsoft.com/office/drawing/2014/main" id="{99B0EBFD-3BCD-E5D5-F1F7-9AC9C099777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565" y="6497765"/>
            <a:ext cx="360235" cy="360235"/>
          </a:xfrm>
          <a:prstGeom prst="rect">
            <a:avLst/>
          </a:prstGeom>
        </p:spPr>
      </p:pic>
      <p:pic>
        <p:nvPicPr>
          <p:cNvPr id="8" name="Graphic 7" descr="Lights On with solid fill">
            <a:extLst>
              <a:ext uri="{FF2B5EF4-FFF2-40B4-BE49-F238E27FC236}">
                <a16:creationId xmlns:a16="http://schemas.microsoft.com/office/drawing/2014/main" id="{A3A1BCBA-3E0D-E88E-3E9B-828DC10CC71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61049" y="6483327"/>
            <a:ext cx="360235" cy="360235"/>
          </a:xfrm>
          <a:prstGeom prst="rect">
            <a:avLst/>
          </a:prstGeom>
        </p:spPr>
      </p:pic>
      <p:sp>
        <p:nvSpPr>
          <p:cNvPr id="11" name="TextBox 10">
            <a:extLst>
              <a:ext uri="{FF2B5EF4-FFF2-40B4-BE49-F238E27FC236}">
                <a16:creationId xmlns:a16="http://schemas.microsoft.com/office/drawing/2014/main" id="{201A469D-FA20-5282-6FFB-1B4009B8B42E}"/>
              </a:ext>
            </a:extLst>
          </p:cNvPr>
          <p:cNvSpPr txBox="1"/>
          <p:nvPr/>
        </p:nvSpPr>
        <p:spPr>
          <a:xfrm>
            <a:off x="751864" y="1859340"/>
            <a:ext cx="4496098" cy="2308324"/>
          </a:xfrm>
          <a:prstGeom prst="rect">
            <a:avLst/>
          </a:prstGeom>
          <a:noFill/>
        </p:spPr>
        <p:txBody>
          <a:bodyPr wrap="square">
            <a:spAutoFit/>
          </a:bodyPr>
          <a:lstStyle/>
          <a:p>
            <a:pPr algn="ctr"/>
            <a:r>
              <a:rPr lang="en-US" sz="4800" b="1" dirty="0"/>
              <a:t>Key Takeaways </a:t>
            </a:r>
          </a:p>
          <a:p>
            <a:pPr algn="ctr"/>
            <a:r>
              <a:rPr lang="en-US" sz="4800" b="1" dirty="0"/>
              <a:t>&amp; </a:t>
            </a:r>
          </a:p>
          <a:p>
            <a:pPr algn="ctr"/>
            <a:r>
              <a:rPr lang="en-US" sz="4800" b="1" dirty="0"/>
              <a:t>Questions</a:t>
            </a:r>
          </a:p>
        </p:txBody>
      </p:sp>
    </p:spTree>
    <p:extLst>
      <p:ext uri="{BB962C8B-B14F-4D97-AF65-F5344CB8AC3E}">
        <p14:creationId xmlns:p14="http://schemas.microsoft.com/office/powerpoint/2010/main" val="1075240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9660F-FD79-A849-3684-1AD00D889E0D}"/>
              </a:ext>
            </a:extLst>
          </p:cNvPr>
          <p:cNvSpPr>
            <a:spLocks noGrp="1"/>
          </p:cNvSpPr>
          <p:nvPr>
            <p:ph type="title"/>
          </p:nvPr>
        </p:nvSpPr>
        <p:spPr>
          <a:xfrm>
            <a:off x="1225294" y="1623377"/>
            <a:ext cx="2157984" cy="557784"/>
          </a:xfrm>
        </p:spPr>
        <p:txBody>
          <a:bodyPr/>
          <a:lstStyle/>
          <a:p>
            <a:r>
              <a:rPr lang="en-US" dirty="0"/>
              <a:t>CASE CLOSED</a:t>
            </a:r>
            <a:br>
              <a:rPr lang="en-US" dirty="0"/>
            </a:br>
            <a:endParaRPr lang="en-US" dirty="0"/>
          </a:p>
        </p:txBody>
      </p:sp>
      <p:sp>
        <p:nvSpPr>
          <p:cNvPr id="3" name="Content Placeholder 2">
            <a:extLst>
              <a:ext uri="{FF2B5EF4-FFF2-40B4-BE49-F238E27FC236}">
                <a16:creationId xmlns:a16="http://schemas.microsoft.com/office/drawing/2014/main" id="{E1A767CC-6D8C-D9FF-DF63-F175BF69A964}"/>
              </a:ext>
            </a:extLst>
          </p:cNvPr>
          <p:cNvSpPr>
            <a:spLocks noGrp="1"/>
          </p:cNvSpPr>
          <p:nvPr>
            <p:ph sz="quarter" idx="13"/>
          </p:nvPr>
        </p:nvSpPr>
        <p:spPr>
          <a:xfrm>
            <a:off x="210311" y="2597530"/>
            <a:ext cx="4187951" cy="1361821"/>
          </a:xfrm>
        </p:spPr>
        <p:txBody>
          <a:bodyPr>
            <a:noAutofit/>
          </a:bodyPr>
          <a:lstStyle/>
          <a:p>
            <a:pPr marL="0" indent="0" algn="ctr">
              <a:buNone/>
            </a:pPr>
            <a:r>
              <a:rPr lang="en-US" sz="3600" dirty="0"/>
              <a:t>Can the South Region Predict Seasonal Demand?</a:t>
            </a:r>
          </a:p>
        </p:txBody>
      </p:sp>
      <p:sp>
        <p:nvSpPr>
          <p:cNvPr id="4" name="Text Placeholder 3">
            <a:extLst>
              <a:ext uri="{FF2B5EF4-FFF2-40B4-BE49-F238E27FC236}">
                <a16:creationId xmlns:a16="http://schemas.microsoft.com/office/drawing/2014/main" id="{934C4926-C54C-E91F-FE0E-6198C538C8B2}"/>
              </a:ext>
            </a:extLst>
          </p:cNvPr>
          <p:cNvSpPr>
            <a:spLocks noGrp="1"/>
          </p:cNvSpPr>
          <p:nvPr>
            <p:ph type="body" sz="quarter" idx="15"/>
          </p:nvPr>
        </p:nvSpPr>
        <p:spPr>
          <a:xfrm>
            <a:off x="7260334" y="1623377"/>
            <a:ext cx="713233" cy="557784"/>
          </a:xfrm>
        </p:spPr>
        <p:txBody>
          <a:bodyPr/>
          <a:lstStyle/>
          <a:p>
            <a:pPr algn="ctr">
              <a:lnSpc>
                <a:spcPct val="150000"/>
              </a:lnSpc>
            </a:pPr>
            <a:r>
              <a:rPr lang="en-US" dirty="0"/>
              <a:t>✓ YES</a:t>
            </a:r>
          </a:p>
        </p:txBody>
      </p:sp>
      <p:sp>
        <p:nvSpPr>
          <p:cNvPr id="5" name="Content Placeholder 4">
            <a:extLst>
              <a:ext uri="{FF2B5EF4-FFF2-40B4-BE49-F238E27FC236}">
                <a16:creationId xmlns:a16="http://schemas.microsoft.com/office/drawing/2014/main" id="{B7C625E4-0E04-CFC1-0498-F9A45AB23F01}"/>
              </a:ext>
            </a:extLst>
          </p:cNvPr>
          <p:cNvSpPr>
            <a:spLocks noGrp="1"/>
          </p:cNvSpPr>
          <p:nvPr>
            <p:ph sz="quarter" idx="14"/>
          </p:nvPr>
        </p:nvSpPr>
        <p:spPr>
          <a:xfrm>
            <a:off x="4791456" y="2267712"/>
            <a:ext cx="5650992" cy="1161288"/>
          </a:xfrm>
        </p:spPr>
        <p:txBody>
          <a:bodyPr/>
          <a:lstStyle/>
          <a:p>
            <a:pPr marL="0" indent="0" algn="ctr">
              <a:buNone/>
            </a:pPr>
            <a:r>
              <a:rPr lang="en-US" b="1" dirty="0"/>
              <a:t>The analysis identified recurring sales patterns and clear revenue drivers that can be used to improve planning.</a:t>
            </a:r>
          </a:p>
        </p:txBody>
      </p:sp>
      <p:sp>
        <p:nvSpPr>
          <p:cNvPr id="6" name="Slide Number Placeholder 5">
            <a:extLst>
              <a:ext uri="{FF2B5EF4-FFF2-40B4-BE49-F238E27FC236}">
                <a16:creationId xmlns:a16="http://schemas.microsoft.com/office/drawing/2014/main" id="{CE316AF3-5458-33B8-AB35-1B14E3B51BDF}"/>
              </a:ext>
            </a:extLst>
          </p:cNvPr>
          <p:cNvSpPr>
            <a:spLocks noGrp="1"/>
          </p:cNvSpPr>
          <p:nvPr>
            <p:ph type="sldNum" sz="quarter" idx="11"/>
          </p:nvPr>
        </p:nvSpPr>
        <p:spPr/>
        <p:txBody>
          <a:bodyPr/>
          <a:lstStyle/>
          <a:p>
            <a:fld id="{B67B645E-C5E5-4727-B977-D372A0AA71D9}" type="slidenum">
              <a:rPr lang="en-US" smtClean="0"/>
              <a:pPr/>
              <a:t>20</a:t>
            </a:fld>
            <a:endParaRPr lang="en-US" dirty="0"/>
          </a:p>
        </p:txBody>
      </p:sp>
      <p:sp>
        <p:nvSpPr>
          <p:cNvPr id="7" name="Content Placeholder 4">
            <a:extLst>
              <a:ext uri="{FF2B5EF4-FFF2-40B4-BE49-F238E27FC236}">
                <a16:creationId xmlns:a16="http://schemas.microsoft.com/office/drawing/2014/main" id="{20097B07-EF17-3EA8-143E-90DC3A6C156A}"/>
              </a:ext>
            </a:extLst>
          </p:cNvPr>
          <p:cNvSpPr txBox="1">
            <a:spLocks/>
          </p:cNvSpPr>
          <p:nvPr/>
        </p:nvSpPr>
        <p:spPr>
          <a:xfrm>
            <a:off x="4791455" y="3519806"/>
            <a:ext cx="5650992" cy="1317370"/>
          </a:xfrm>
          <a:prstGeom prst="rect">
            <a:avLst/>
          </a:prstGeom>
        </p:spPr>
        <p:txBody>
          <a:bodyPr vert="horz" lIns="0" tIns="0" rIns="0" bIns="0" rtlCol="0">
            <a:normAutofit lnSpcReduction="10000"/>
          </a:bodyPr>
          <a:lstStyle>
            <a:lvl1pPr marL="347472" indent="-347472" algn="l" defTabSz="914400" rtl="0" eaLnBrk="1" latinLnBrk="0" hangingPunct="1">
              <a:lnSpc>
                <a:spcPct val="90000"/>
              </a:lnSpc>
              <a:spcBef>
                <a:spcPts val="0"/>
              </a:spcBef>
              <a:spcAft>
                <a:spcPts val="1800"/>
              </a:spcAft>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100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100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The opportunity isn't finding more data—it's using the insights already available to prepare earlier, allocate resources more effectively, and make more proactive business decisions.</a:t>
            </a:r>
          </a:p>
          <a:p>
            <a:endParaRPr lang="en-US" dirty="0"/>
          </a:p>
        </p:txBody>
      </p:sp>
    </p:spTree>
    <p:extLst>
      <p:ext uri="{BB962C8B-B14F-4D97-AF65-F5344CB8AC3E}">
        <p14:creationId xmlns:p14="http://schemas.microsoft.com/office/powerpoint/2010/main" val="2764157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5" grpId="0" build="p"/>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2D42"/>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CC25EE42-B3D5-AD1E-48BE-54CEFF2E3D79}"/>
              </a:ext>
            </a:extLst>
          </p:cNvPr>
          <p:cNvSpPr>
            <a:spLocks noGrp="1"/>
          </p:cNvSpPr>
          <p:nvPr>
            <p:ph type="title"/>
          </p:nvPr>
        </p:nvSpPr>
        <p:spPr/>
        <p:txBody>
          <a:bodyPr/>
          <a:lstStyle/>
          <a:p>
            <a:r>
              <a:rPr lang="en-US" dirty="0"/>
              <a:t>Thank</a:t>
            </a:r>
            <a:br>
              <a:rPr lang="en-US" dirty="0"/>
            </a:br>
            <a:r>
              <a:rPr lang="en-US" dirty="0"/>
              <a:t>you</a:t>
            </a:r>
          </a:p>
        </p:txBody>
      </p:sp>
      <p:sp>
        <p:nvSpPr>
          <p:cNvPr id="15" name="Text Placeholder 14">
            <a:extLst>
              <a:ext uri="{FF2B5EF4-FFF2-40B4-BE49-F238E27FC236}">
                <a16:creationId xmlns:a16="http://schemas.microsoft.com/office/drawing/2014/main" id="{F4027D16-8477-9439-2912-A02011AD8AC6}"/>
              </a:ext>
            </a:extLst>
          </p:cNvPr>
          <p:cNvSpPr>
            <a:spLocks noGrp="1"/>
          </p:cNvSpPr>
          <p:nvPr>
            <p:ph type="body" sz="quarter" idx="11"/>
          </p:nvPr>
        </p:nvSpPr>
        <p:spPr>
          <a:xfrm>
            <a:off x="841375" y="3705309"/>
            <a:ext cx="10479088" cy="2587625"/>
          </a:xfrm>
        </p:spPr>
        <p:txBody>
          <a:bodyPr/>
          <a:lstStyle/>
          <a:p>
            <a:r>
              <a:rPr lang="en-US" dirty="0"/>
              <a:t>Jordan </a:t>
            </a:r>
            <a:r>
              <a:rPr lang="en-US" dirty="0" err="1"/>
              <a:t>wORROBAH</a:t>
            </a:r>
            <a:br>
              <a:rPr lang="en-US" dirty="0"/>
            </a:br>
            <a:r>
              <a:rPr lang="en-US" dirty="0" err="1"/>
              <a:t>linkedin</a:t>
            </a:r>
            <a:r>
              <a:rPr lang="en-US" dirty="0"/>
              <a:t>: jordan worrobah</a:t>
            </a:r>
            <a:br>
              <a:rPr lang="en-US" dirty="0"/>
            </a:br>
            <a:r>
              <a:rPr lang="en-US" dirty="0"/>
              <a:t>Jordanworrobah@gmail.com</a:t>
            </a:r>
            <a:br>
              <a:rPr lang="en-US" dirty="0"/>
            </a:br>
            <a:r>
              <a:rPr lang="en-US" dirty="0" err="1"/>
              <a:t>github</a:t>
            </a:r>
            <a:r>
              <a:rPr lang="en-US" dirty="0"/>
              <a:t>: Fire-Cricket</a:t>
            </a:r>
          </a:p>
        </p:txBody>
      </p:sp>
      <p:pic>
        <p:nvPicPr>
          <p:cNvPr id="3" name="Graphic 2" descr="Race Flag with solid fill">
            <a:extLst>
              <a:ext uri="{FF2B5EF4-FFF2-40B4-BE49-F238E27FC236}">
                <a16:creationId xmlns:a16="http://schemas.microsoft.com/office/drawing/2014/main" id="{9EC26743-F68C-D848-E02B-74E7DC1DEA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71436" y="6483326"/>
            <a:ext cx="360235" cy="360235"/>
          </a:xfrm>
          <a:prstGeom prst="rect">
            <a:avLst/>
          </a:prstGeom>
        </p:spPr>
      </p:pic>
      <p:pic>
        <p:nvPicPr>
          <p:cNvPr id="5" name="Graphic 4" descr="Lights On with solid fill">
            <a:extLst>
              <a:ext uri="{FF2B5EF4-FFF2-40B4-BE49-F238E27FC236}">
                <a16:creationId xmlns:a16="http://schemas.microsoft.com/office/drawing/2014/main" id="{48993725-F48B-C9CA-EF34-8F869B01530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61049" y="6483327"/>
            <a:ext cx="360235" cy="360235"/>
          </a:xfrm>
          <a:prstGeom prst="rect">
            <a:avLst/>
          </a:prstGeom>
        </p:spPr>
      </p:pic>
      <p:pic>
        <p:nvPicPr>
          <p:cNvPr id="7" name="Graphic 6" descr="Pin with solid fill">
            <a:extLst>
              <a:ext uri="{FF2B5EF4-FFF2-40B4-BE49-F238E27FC236}">
                <a16:creationId xmlns:a16="http://schemas.microsoft.com/office/drawing/2014/main" id="{DBCCA5AF-6F77-70FD-9DD4-0D7CC27138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17353" y="6497765"/>
            <a:ext cx="360235" cy="360235"/>
          </a:xfrm>
          <a:prstGeom prst="rect">
            <a:avLst/>
          </a:prstGeom>
        </p:spPr>
      </p:pic>
      <p:pic>
        <p:nvPicPr>
          <p:cNvPr id="9" name="Graphic 8" descr="Bar graph with upward trend with solid fill">
            <a:extLst>
              <a:ext uri="{FF2B5EF4-FFF2-40B4-BE49-F238E27FC236}">
                <a16:creationId xmlns:a16="http://schemas.microsoft.com/office/drawing/2014/main" id="{207B78F7-8DAF-6F59-18B3-EC3B780B13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6459" y="6497765"/>
            <a:ext cx="360235" cy="360235"/>
          </a:xfrm>
          <a:prstGeom prst="rect">
            <a:avLst/>
          </a:prstGeom>
        </p:spPr>
      </p:pic>
      <p:pic>
        <p:nvPicPr>
          <p:cNvPr id="11" name="Graphic 10" descr="Tools with solid fill">
            <a:extLst>
              <a:ext uri="{FF2B5EF4-FFF2-40B4-BE49-F238E27FC236}">
                <a16:creationId xmlns:a16="http://schemas.microsoft.com/office/drawing/2014/main" id="{5F78D5EB-ED9C-D0B2-E1E9-0E43712068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3657" y="6497765"/>
            <a:ext cx="360235" cy="360235"/>
          </a:xfrm>
          <a:prstGeom prst="rect">
            <a:avLst/>
          </a:prstGeom>
        </p:spPr>
      </p:pic>
      <p:pic>
        <p:nvPicPr>
          <p:cNvPr id="13" name="Graphic 12" descr="Left Brain with solid fill">
            <a:extLst>
              <a:ext uri="{FF2B5EF4-FFF2-40B4-BE49-F238E27FC236}">
                <a16:creationId xmlns:a16="http://schemas.microsoft.com/office/drawing/2014/main" id="{C728EA59-E30D-D0C1-E1ED-105DB7CE9F2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1012" y="6483327"/>
            <a:ext cx="360235" cy="360235"/>
          </a:xfrm>
          <a:prstGeom prst="rect">
            <a:avLst/>
          </a:prstGeom>
        </p:spPr>
      </p:pic>
      <p:pic>
        <p:nvPicPr>
          <p:cNvPr id="16" name="Graphic 15" descr="Magnifying glass with solid fill">
            <a:extLst>
              <a:ext uri="{FF2B5EF4-FFF2-40B4-BE49-F238E27FC236}">
                <a16:creationId xmlns:a16="http://schemas.microsoft.com/office/drawing/2014/main" id="{EAEA51C8-151F-F5DF-0915-9C787B16C14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5565" y="6497765"/>
            <a:ext cx="360235" cy="360235"/>
          </a:xfrm>
          <a:prstGeom prst="rect">
            <a:avLst/>
          </a:prstGeom>
        </p:spPr>
      </p:pic>
    </p:spTree>
    <p:extLst>
      <p:ext uri="{BB962C8B-B14F-4D97-AF65-F5344CB8AC3E}">
        <p14:creationId xmlns:p14="http://schemas.microsoft.com/office/powerpoint/2010/main" val="1988437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275f972-a0ec-44ed-acfc-93b347ca42d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BAB7F1D75092C43A80735B994755528" ma:contentTypeVersion="9" ma:contentTypeDescription="Create a new document." ma:contentTypeScope="" ma:versionID="ca908d4835b8705ff10e1badc841fafa">
  <xsd:schema xmlns:xsd="http://www.w3.org/2001/XMLSchema" xmlns:xs="http://www.w3.org/2001/XMLSchema" xmlns:p="http://schemas.microsoft.com/office/2006/metadata/properties" xmlns:ns3="b275f972-a0ec-44ed-acfc-93b347ca42d1" targetNamespace="http://schemas.microsoft.com/office/2006/metadata/properties" ma:root="true" ma:fieldsID="2cea5bf2cfd88ce1391a658ac3f9c580" ns3:_="">
    <xsd:import namespace="b275f972-a0ec-44ed-acfc-93b347ca42d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75f972-a0ec-44ed-acfc-93b347ca42d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247F30-5811-40C0-99EC-CF53200590BE}">
  <ds:schemaRefs>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b275f972-a0ec-44ed-acfc-93b347ca42d1"/>
    <ds:schemaRef ds:uri="http://schemas.microsoft.com/office/2006/documentManagement/typ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3.xml><?xml version="1.0" encoding="utf-8"?>
<ds:datastoreItem xmlns:ds="http://schemas.openxmlformats.org/officeDocument/2006/customXml" ds:itemID="{36A24156-834E-415F-9972-B7C6522F98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75f972-a0ec-44ed-acfc-93b347ca42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Corporate colors presentation</Template>
  <TotalTime>325</TotalTime>
  <Words>1595</Words>
  <Application>Microsoft Office PowerPoint</Application>
  <PresentationFormat>Widescreen</PresentationFormat>
  <Paragraphs>179</Paragraphs>
  <Slides>21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Light</vt:lpstr>
      <vt:lpstr>Arial</vt:lpstr>
      <vt:lpstr>Calibri</vt:lpstr>
      <vt:lpstr>Custom</vt:lpstr>
      <vt:lpstr>Jordan Worrobah Data Analyst </vt:lpstr>
      <vt:lpstr>Agenda</vt:lpstr>
      <vt:lpstr>Before I even  opened Power BI  I wanted to  answer one  question  </vt:lpstr>
      <vt:lpstr>To answer our business question, I analyzed four years of sales data looking for recurring patterns. </vt:lpstr>
      <vt:lpstr>What Did We Expect to Find? </vt:lpstr>
      <vt:lpstr>Predictions Timeline</vt:lpstr>
      <vt:lpstr>Predictions Timeline</vt:lpstr>
      <vt:lpstr>Predictions Timeline</vt:lpstr>
      <vt:lpstr>Predictions Timeline</vt:lpstr>
      <vt:lpstr>Predictions Timeline</vt:lpstr>
      <vt:lpstr>The cleaning process </vt:lpstr>
      <vt:lpstr>Building a Reliable Data Model </vt:lpstr>
      <vt:lpstr>Testing  the  Evidence </vt:lpstr>
      <vt:lpstr>PowerPoint Presentation</vt:lpstr>
      <vt:lpstr>South Region Findings  </vt:lpstr>
      <vt:lpstr>PowerPoint Presentation</vt:lpstr>
      <vt:lpstr>Business Recommendations  </vt:lpstr>
      <vt:lpstr>PowerPoint Presentation</vt:lpstr>
      <vt:lpstr>PowerPoint Presentation</vt:lpstr>
      <vt:lpstr>CASE CLOSED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worrobah</dc:creator>
  <cp:lastModifiedBy>jordan worrobah</cp:lastModifiedBy>
  <cp:revision>9</cp:revision>
  <dcterms:created xsi:type="dcterms:W3CDTF">2026-06-25T20:40:00Z</dcterms:created>
  <dcterms:modified xsi:type="dcterms:W3CDTF">2026-06-26T02:51:59Z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0x0101006BAB7F1D75092C43A80735B994755528</vt:lpwstr>
  </property>
  <property fmtid="{D5CDD505-2E9C-101B-9397-08002B2CF9AE}" pid="3" name="MediaServiceImageTags">
    <vt:lpwstr/>
  </property>
</Properties>
</file>